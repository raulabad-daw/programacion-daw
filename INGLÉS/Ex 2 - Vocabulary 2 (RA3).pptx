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31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IT · PROFESSIONAL ENGLISH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for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Interfaces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we use to describe what users see, choose and do.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B66B6BD-CBE8-817B-5FD8-D3D9528EBC75}"/>
              </a:ext>
            </a:extLst>
          </p:cNvPr>
          <p:cNvSpPr txBox="1"/>
          <p:nvPr/>
        </p:nvSpPr>
        <p:spPr>
          <a:xfrm>
            <a:off x="640080" y="4430485"/>
            <a:ext cx="7047411" cy="33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Raúl Abad, Kelly Aruna &amp; Steven Baldeon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Scrolling moves your view up or down the page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content lower on the page.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"Scroll down to see the next section."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97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up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content above.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"Scroll up to return to the introduction."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the scrollbar shows where you are on the page.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188720"/>
            <a:ext cx="3749040" cy="3474720"/>
          </a:xfrm>
          <a:prstGeom prst="rect">
            <a:avLst/>
          </a:prstGeom>
          <a:solidFill>
            <a:srgbClr val="FFFFFF"/>
          </a:solidFill>
          <a:ln w="15875">
            <a:solidFill>
              <a:srgbClr val="646A8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1463040"/>
            <a:ext cx="2743200" cy="182880"/>
          </a:xfrm>
          <a:prstGeom prst="rect">
            <a:avLst/>
          </a:prstGeom>
          <a:solidFill>
            <a:srgbClr val="E6E9FA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1874520"/>
            <a:ext cx="2377440" cy="182880"/>
          </a:xfrm>
          <a:prstGeom prst="rect">
            <a:avLst/>
          </a:prstGeom>
          <a:solidFill>
            <a:srgbClr val="E6E9FA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286000"/>
            <a:ext cx="2743200" cy="182880"/>
          </a:xfrm>
          <a:prstGeom prst="rect">
            <a:avLst/>
          </a:prstGeom>
          <a:solidFill>
            <a:srgbClr val="E6E9FA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697480"/>
            <a:ext cx="2011680" cy="182880"/>
          </a:xfrm>
          <a:prstGeom prst="rect">
            <a:avLst/>
          </a:prstGeom>
          <a:solidFill>
            <a:srgbClr val="E6E9FA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3108960"/>
            <a:ext cx="2743200" cy="182880"/>
          </a:xfrm>
          <a:prstGeom prst="rect">
            <a:avLst/>
          </a:prstGeom>
          <a:solidFill>
            <a:srgbClr val="E6E9FA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3520440"/>
            <a:ext cx="2560320" cy="182880"/>
          </a:xfrm>
          <a:prstGeom prst="rect">
            <a:avLst/>
          </a:prstGeom>
          <a:solidFill>
            <a:srgbClr val="E6E9FA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3931920"/>
            <a:ext cx="2194560" cy="182880"/>
          </a:xfrm>
          <a:prstGeom prst="rect">
            <a:avLst/>
          </a:prstGeom>
          <a:solidFill>
            <a:srgbClr val="E6E9FA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1280160"/>
            <a:ext cx="274320" cy="3291840"/>
          </a:xfrm>
          <a:prstGeom prst="rect">
            <a:avLst/>
          </a:prstGeom>
          <a:solidFill>
            <a:srgbClr val="F7F8FC"/>
          </a:solidFill>
          <a:ln w="15875">
            <a:solidFill>
              <a:srgbClr val="646A8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11312" y="2194560"/>
            <a:ext cx="219456" cy="1097280"/>
          </a:xfrm>
          <a:prstGeom prst="rect">
            <a:avLst/>
          </a:prstGeom>
          <a:solidFill>
            <a:srgbClr val="F2A33A"/>
          </a:solidFill>
          <a:ln w="15875">
            <a:solidFill>
              <a:srgbClr val="F2A33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scroll up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scroll down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Mouse actions describe how you interact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09728" cy="548640"/>
          </a:xfrm>
          <a:prstGeom prst="rect">
            <a:avLst/>
          </a:prstGeom>
          <a:solidFill>
            <a:srgbClr val="F2A33A"/>
          </a:solidFill>
          <a:ln w="15875">
            <a:solidFill>
              <a:srgbClr val="F2A33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344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and hold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left mouse button down.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109728" cy="548640"/>
          </a:xfrm>
          <a:prstGeom prst="rect">
            <a:avLst/>
          </a:prstGeom>
          <a:solidFill>
            <a:srgbClr val="F2A33A"/>
          </a:solidFill>
          <a:ln w="15875">
            <a:solidFill>
              <a:srgbClr val="F2A33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an item, then release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109728" cy="548640"/>
          </a:xfrm>
          <a:prstGeom prst="rect">
            <a:avLst/>
          </a:prstGeom>
          <a:solidFill>
            <a:srgbClr val="F2A33A"/>
          </a:solidFill>
          <a:ln w="15875">
            <a:solidFill>
              <a:srgbClr val="F2A33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pointer on an item without clicking.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91840"/>
            <a:ext cx="109728" cy="548640"/>
          </a:xfrm>
          <a:prstGeom prst="rect">
            <a:avLst/>
          </a:prstGeom>
          <a:solidFill>
            <a:srgbClr val="F2A33A"/>
          </a:solidFill>
          <a:ln w="15875">
            <a:solidFill>
              <a:srgbClr val="F2A33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918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twice quickly.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109728" cy="548640"/>
          </a:xfrm>
          <a:prstGeom prst="rect">
            <a:avLst/>
          </a:prstGeom>
          <a:solidFill>
            <a:srgbClr val="F2A33A"/>
          </a:solidFill>
          <a:ln w="15875">
            <a:solidFill>
              <a:srgbClr val="F2A33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9776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right button to open a context menu.</a:t>
            </a:r>
            <a:endParaRPr lang="en-US" sz="1400" dirty="0"/>
          </a:p>
        </p:txBody>
      </p:sp>
      <p:pic>
        <p:nvPicPr>
          <p:cNvPr id="13" name="Image 0" descr="/home/claude/x/ppt/media/imag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457200"/>
            <a:ext cx="2834640" cy="371246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52160" y="4297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tells the listener what to do.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 gestures combine movement and intent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gesture is a touch movement that triggers an action.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E6E9FA"/>
          </a:solidFill>
          <a:ln w="19050">
            <a:solidFill>
              <a:srgbClr val="E6E9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947672"/>
            <a:ext cx="402336" cy="402336"/>
          </a:xfrm>
          <a:prstGeom prst="ellipse">
            <a:avLst/>
          </a:prstGeom>
          <a:solidFill>
            <a:srgbClr val="B9C0F0"/>
          </a:solidFill>
          <a:ln w="19050">
            <a:solidFill>
              <a:srgbClr val="B9C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057400"/>
            <a:ext cx="182880" cy="182880"/>
          </a:xfrm>
          <a:prstGeom prst="ellipse">
            <a:avLst/>
          </a:prstGeom>
          <a:solidFill>
            <a:srgbClr val="3D4BC4"/>
          </a:solidFill>
          <a:ln w="19050">
            <a:solidFill>
              <a:srgbClr val="3D4B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83464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the screen once to select or open.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155448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50008" y="2011680"/>
            <a:ext cx="228600" cy="228600"/>
          </a:xfrm>
          <a:prstGeom prst="ellipse">
            <a:avLst/>
          </a:prstGeom>
          <a:solidFill>
            <a:srgbClr val="3D4BC4"/>
          </a:solidFill>
          <a:ln w="19050">
            <a:solidFill>
              <a:srgbClr val="3D4B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2011680"/>
            <a:ext cx="228600" cy="228600"/>
          </a:xfrm>
          <a:prstGeom prst="ellipse">
            <a:avLst/>
          </a:prstGeom>
          <a:solidFill>
            <a:srgbClr val="3D4BC4"/>
          </a:solidFill>
          <a:ln w="19050">
            <a:solidFill>
              <a:srgbClr val="3D4B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24328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231136" y="283464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to zoom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two fingers: apart = zoom in, together = zoom out.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85616" y="155448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151376" y="1828800"/>
            <a:ext cx="731520" cy="640080"/>
          </a:xfrm>
          <a:prstGeom prst="rect">
            <a:avLst/>
          </a:prstGeom>
          <a:solidFill>
            <a:srgbClr val="E6E9FA"/>
          </a:solidFill>
          <a:ln w="15875">
            <a:solidFill>
              <a:srgbClr val="3D4B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4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3895344" y="283464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view larger.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49824" y="155448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98464" y="2011680"/>
            <a:ext cx="365760" cy="320040"/>
          </a:xfrm>
          <a:prstGeom prst="rect">
            <a:avLst/>
          </a:prstGeom>
          <a:solidFill>
            <a:srgbClr val="E6E9FA"/>
          </a:solidFill>
          <a:ln w="15875">
            <a:solidFill>
              <a:srgbClr val="3D4B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4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559552" y="283464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out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view smaller.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155448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88352" y="1965960"/>
            <a:ext cx="274320" cy="274320"/>
          </a:xfrm>
          <a:prstGeom prst="ellipse">
            <a:avLst/>
          </a:prstGeom>
          <a:solidFill>
            <a:srgbClr val="3D4BC4"/>
          </a:solidFill>
          <a:ln w="19050">
            <a:solidFill>
              <a:srgbClr val="3D4B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35824" y="1965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swipe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834640"/>
            <a:ext cx="1335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touch movement that triggers an action.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shows where your next input will go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the field that is ready to receive typing.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looks: a clear outline, a highlight or a blinking cursor.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the text you type appears in that field.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is not a selected answer.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press Tab to move focus to "Email", then type.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 w="15875">
            <a:solidFill>
              <a:srgbClr val="646A8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73736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5CC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697480"/>
            <a:ext cx="3383280" cy="457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D4BC4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ana@mail.com|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D4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focus: blue outline + cursor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84048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3D4BC4"/>
          </a:solidFill>
          <a:ln w="15875">
            <a:solidFill>
              <a:srgbClr val="3D4B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Checkboxes allow several choices; radio buttons choose one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Checkboxes: several choices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options, e.g. interests.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274320" cy="274320"/>
          </a:xfrm>
          <a:prstGeom prst="rect">
            <a:avLst/>
          </a:prstGeom>
          <a:solidFill>
            <a:srgbClr val="3D4BC4"/>
          </a:solidFill>
          <a:ln w="15875">
            <a:solidFill>
              <a:srgbClr val="3D4BC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design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274320" cy="274320"/>
          </a:xfrm>
          <a:prstGeom prst="rect">
            <a:avLst/>
          </a:prstGeom>
          <a:solidFill>
            <a:srgbClr val="3D4BC4"/>
          </a:solidFill>
          <a:ln w="15875">
            <a:solidFill>
              <a:srgbClr val="3D4BC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00400"/>
            <a:ext cx="274320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3D4BC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buttons: one choice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option in a group, e.g. delivery.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92040" y="228600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4B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65192" y="2359152"/>
            <a:ext cx="128016" cy="128016"/>
          </a:xfrm>
          <a:prstGeom prst="ellipse">
            <a:avLst/>
          </a:prstGeom>
          <a:solidFill>
            <a:srgbClr val="3D4BC4"/>
          </a:solidFill>
          <a:ln w="19050">
            <a:solidFill>
              <a:srgbClr val="3D4B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delivery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92040" y="274320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4B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delivery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E6E9FA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first: "Can the user choose more than one?"  Yes → checkboxes.  No → radio buttons.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Drop-down buttons, cards and badges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Drop-down button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list of actions or choices.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D4B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 ▾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1554480" cy="347472"/>
          </a:xfrm>
          <a:prstGeom prst="rect">
            <a:avLst/>
          </a:prstGeom>
          <a:solidFill>
            <a:srgbClr val="E6E9FA"/>
          </a:solidFill>
          <a:ln w="9525">
            <a:solidFill>
              <a:srgbClr val="B0B5CC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44952"/>
            <a:ext cx="1554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0B5CC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92424"/>
            <a:ext cx="1554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0B5CC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content in one panel.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19456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5C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194560"/>
            <a:ext cx="2011680" cy="914400"/>
          </a:xfrm>
          <a:prstGeom prst="rect">
            <a:avLst/>
          </a:prstGeom>
          <a:solidFill>
            <a:srgbClr val="E6E9FA"/>
          </a:solidFill>
          <a:ln w="12700">
            <a:solidFill>
              <a:srgbClr val="B0B5C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€899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93192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3D4BC4"/>
          </a:solidFill>
          <a:ln w="15875">
            <a:solidFill>
              <a:srgbClr val="3D4BC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E6E9F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label that shows status.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331720"/>
            <a:ext cx="822960" cy="347472"/>
          </a:xfrm>
          <a:prstGeom prst="roundRect">
            <a:avLst>
              <a:gd name="adj" fmla="val 21053"/>
            </a:avLst>
          </a:prstGeom>
          <a:solidFill>
            <a:srgbClr val="2E9E6B"/>
          </a:solidFill>
          <a:ln w="15875">
            <a:solidFill>
              <a:srgbClr val="2E9E6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88036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F2A33A"/>
          </a:solidFill>
          <a:ln w="15875">
            <a:solidFill>
              <a:srgbClr val="F2A33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429000"/>
            <a:ext cx="82296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out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4023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4069080"/>
            <a:ext cx="292608" cy="27432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Breadcrumbs show location; tooltips explain controls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Breadcrumb: a trail of links that shows where you are.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Tooltip: a short hint near a control, often when you hover over it.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clues: where you are, and what a control does.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188720"/>
            <a:ext cx="4389120" cy="3474720"/>
          </a:xfrm>
          <a:prstGeom prst="rect">
            <a:avLst/>
          </a:prstGeom>
          <a:solidFill>
            <a:srgbClr val="FFFFFF"/>
          </a:solidFill>
          <a:ln w="15875">
            <a:solidFill>
              <a:srgbClr val="646A8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188720"/>
            <a:ext cx="4389120" cy="548640"/>
          </a:xfrm>
          <a:prstGeom prst="rect">
            <a:avLst/>
          </a:prstGeom>
          <a:solidFill>
            <a:srgbClr val="E6E9FA"/>
          </a:solidFill>
          <a:ln w="15875">
            <a:solidFill>
              <a:srgbClr val="646A88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188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›  Courses  › 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92440" y="132588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A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182880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E2347"/>
          </a:solidFill>
          <a:ln w="15875">
            <a:solidFill>
              <a:srgbClr val="1E234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settings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D4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D4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(on hover)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it all together: a form walkthrough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F2A33A"/>
          </a:solidFill>
          <a:ln w="1905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and focus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a field: a tooltip appears. Click or tap it: the field gets focus.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rgbClr val="F2A33A"/>
          </a:solidFill>
          <a:ln w="19050">
            <a:solidFill>
              <a:srgbClr val="F2A3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423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and check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radio button, then check the boxes you want.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548640" cy="548640"/>
          </a:xfrm>
          <a:prstGeom prst="ellipse">
            <a:avLst/>
          </a:prstGeom>
          <a:solidFill>
            <a:srgbClr val="F2A33A"/>
          </a:solidFill>
          <a:ln w="19050">
            <a:solidFill>
              <a:srgbClr val="F2A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20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navigate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E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drop-down, then use the breadcrumb to go back.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3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questions?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· hover · drag and drop · tap · pinch to zoom · focus · checkbox · radio button · drop-down · card · badge · breadcrumb · tooltip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607</Words>
  <Application>Microsoft Office PowerPoint</Application>
  <PresentationFormat>Presentación en pantalla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Raul Alejandro Abad Zuloaga</cp:lastModifiedBy>
  <cp:revision>2</cp:revision>
  <dcterms:created xsi:type="dcterms:W3CDTF">2026-10-08T10:59:04Z</dcterms:created>
  <dcterms:modified xsi:type="dcterms:W3CDTF">2026-10-08T11:08:15Z</dcterms:modified>
</cp:coreProperties>
</file>
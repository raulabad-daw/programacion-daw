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Albert Sans"/>
      <p:regular r:id="rId201314"/>
    </p:embeddedFont>
    <p:embeddedFont>
      <p:font typeface="Albert Sans SemiBold"/>
      <p:regular r:id="rId201315"/>
    </p:embeddedFont>
    <p:embeddedFont>
      <p:font typeface="Albert Sans Bold"/>
      <p:regular r:id="rId201316"/>
    </p:embeddedFont>
    <p:embeddedFont>
      <p:font typeface="Hedvig Letters Serif"/>
      <p:regular r:id="rId201317"/>
    </p:embeddedFont>
    <p:embeddedFont>
      <p:font typeface="Red Hat Mono Medium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ODS se concretan en decisiones web: proteger datos en telemedicina, hacer accesible la educación y optimizar recursos. También orientan el trabajo ético, la infraestructura segura, la participación ciudadana y la reutilización del código. Las aplicaciones pueden ayudar a medir la huella de carbono y cuidar la biodiversidad.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el equipo web, los criterios ASG se incorporan a la forma de trabajar. Optimizar recursos responde a la dimensión ambiental; cuidar la inclusión y las condiciones laborales, a la social. La ética y la transparencia orientan las decisiones y las responsabilidades.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proyecto web afecta a más personas que sus usuarios. Empleados, clientes, comunidad local, reguladores y proveedores forman su entorno. Tenerlos presentes permite reconocer expectativas distintas y entender por qué una decisión técnica también puede tener consecuencias sociales y de gobernanza.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Ignorar ASG tiene consecuencias concretas. El incumplimiento del RGPD puede generar sanciones; las malas condiciones laborales favorecen la rotación y la fatiga digital. La opacidad erosiona la confianza y una comunidad poco implicada puede aceptar peor el proyecto.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mismos ámbitos pueden convertirse en oportunidades. Cumplir las normas ayuda a mantener el servicio; una buena reputación favorece la retención del talento. La transparencia sostiene la confianza y una comunidad activa puede aportar recursos al proyecto.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evaluación es un ciclo. Medimos el rendimiento ASG, comunicamos los resultados con transparencia y fijamos objetivos de mejora. Después volvemos a medir para seguir el progreso. Así, los grupos de interés pueden conocer los resultados.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GRI orienta la información sobre impactos de sostenibilidad; ISO 26000 ofrece una guía de responsabilidad social; SASB aborda información sectorial financieramente relevante. Para evaluar contamos con informes, auditorías ambientales, encuestas de satisfacción e indicadores KPI.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inversión socialmente responsable incorpora factores ASG a las decisiones de inversión. Busca retorno financiero e impacto positivo. Los criterios ambientales, sociales y de gobernanza pasan así a formar parte de la evaluación de dónde invertir.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ISR reúne a analistas, inversores y fondos. Agencias como MSCI ESG Ratings y Sustainalytics aportan evaluaciones; DJSI y FTSE4Good son índices de referencia. En desarrollo web, este enfoque se conecta con proveedores sostenibles, proyectos comunitarios y educación en sostenibilidad.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proyecto web sostenible une decisiones ambientales, sociales y de gobernanza durante todo su desarrollo. Incluye reciclaje digital, energía renovable, código eficiente y formación en igualdad, inclusión y accesibilidad. También ofrece seminarios a jóvenes programadores y responde con transparencia por sus decisiones. Programar hoy pensando en el futuro.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jpe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4-2.png"/><Relationship Id="rId3" Type="http://schemas.openxmlformats.org/officeDocument/2006/relationships/image" Target="../media/image-5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jpe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7656"/>
            <a:ext cx="9143771" cy="17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spc="86" kern="100" dirty="0">
                <a:solidFill>
                  <a:srgbClr val="33443A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0"/>
              </a:rPr>
              <a:t>ODS · APLICACIONES WEB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86495"/>
            <a:ext cx="8534187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50" spc="-37" kern="100" dirty="0">
                <a:solidFill>
                  <a:srgbClr val="12261A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0"/>
              </a:rPr>
              <a:t>Los ODS, aplicados al desarrollo web</a:t>
            </a:r>
            <a:endParaRPr lang="en-US" sz="3050" dirty="0"/>
          </a:p>
        </p:txBody>
      </p:sp>
      <p:sp>
        <p:nvSpPr>
          <p:cNvPr id="4" name="Shape 2"/>
          <p:cNvSpPr/>
          <p:nvPr/>
        </p:nvSpPr>
        <p:spPr>
          <a:xfrm>
            <a:off x="609585" y="1484709"/>
            <a:ext cx="609585" cy="31651"/>
          </a:xfrm>
          <a:prstGeom prst="roundRect">
            <a:avLst>
              <a:gd name="adj" fmla="val 49998"/>
            </a:avLst>
          </a:prstGeom>
          <a:solidFill>
            <a:srgbClr val="17813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718171"/>
            <a:ext cx="386447" cy="38645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2215030"/>
            <a:ext cx="2768531" cy="231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ODS 3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09585" y="2565410"/>
            <a:ext cx="2768531" cy="512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15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Telemedicina y bienestar; datos protegidos.</a:t>
            </a:r>
            <a:endParaRPr lang="en-US" sz="15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0512" y="1718171"/>
            <a:ext cx="386447" cy="38645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530512" y="2215030"/>
            <a:ext cx="2692333" cy="231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ODS 4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3530512" y="2565410"/>
            <a:ext cx="2692333" cy="512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15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Plataformas educativas accesibles (WCAG).</a:t>
            </a:r>
            <a:endParaRPr lang="en-US" sz="15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5241" y="1718171"/>
            <a:ext cx="386447" cy="38645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375241" y="2215030"/>
            <a:ext cx="2768531" cy="231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ODS 7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6375241" y="2565410"/>
            <a:ext cx="2768531" cy="512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15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Hosting verde; código optimizado.</a:t>
            </a:r>
            <a:endParaRPr lang="en-US" sz="15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5" y="3484265"/>
            <a:ext cx="386447" cy="38645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09585" y="3981123"/>
            <a:ext cx="2768531" cy="231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ODS 8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609585" y="4331503"/>
            <a:ext cx="2768531" cy="512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15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Condiciones éticas; código abierto.</a:t>
            </a:r>
            <a:endParaRPr lang="en-US" sz="15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0512" y="3484265"/>
            <a:ext cx="386447" cy="386457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530512" y="3981123"/>
            <a:ext cx="2692333" cy="231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ODS 9</a:t>
            </a:r>
            <a:endParaRPr lang="en-US" sz="1500" dirty="0"/>
          </a:p>
        </p:txBody>
      </p:sp>
      <p:sp>
        <p:nvSpPr>
          <p:cNvPr id="19" name="Text 12"/>
          <p:cNvSpPr/>
          <p:nvPr/>
        </p:nvSpPr>
        <p:spPr>
          <a:xfrm>
            <a:off x="3530512" y="4331503"/>
            <a:ext cx="2692333" cy="512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15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Plataformas escalables y seguras en la nube.</a:t>
            </a:r>
            <a:endParaRPr lang="en-US" sz="15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5241" y="3484265"/>
            <a:ext cx="386447" cy="386457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375241" y="3981123"/>
            <a:ext cx="2768531" cy="231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ODS 11</a:t>
            </a:r>
            <a:endParaRPr lang="en-US" sz="1500" dirty="0"/>
          </a:p>
        </p:txBody>
      </p:sp>
      <p:sp>
        <p:nvSpPr>
          <p:cNvPr id="22" name="Text 14"/>
          <p:cNvSpPr/>
          <p:nvPr/>
        </p:nvSpPr>
        <p:spPr>
          <a:xfrm>
            <a:off x="6375241" y="4331503"/>
            <a:ext cx="2768531" cy="512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15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Ciudades inteligentes; participación ciudadana.</a:t>
            </a:r>
            <a:endParaRPr lang="en-US" sz="15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585" y="5250557"/>
            <a:ext cx="386447" cy="386457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09585" y="5747416"/>
            <a:ext cx="2768531" cy="231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ODS 12</a:t>
            </a:r>
            <a:endParaRPr lang="en-US" sz="1500" dirty="0"/>
          </a:p>
        </p:txBody>
      </p:sp>
      <p:sp>
        <p:nvSpPr>
          <p:cNvPr id="25" name="Text 16"/>
          <p:cNvSpPr/>
          <p:nvPr/>
        </p:nvSpPr>
        <p:spPr>
          <a:xfrm>
            <a:off x="609585" y="6097796"/>
            <a:ext cx="2768531" cy="512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15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Reutilizar código y librerías compartidas.</a:t>
            </a:r>
            <a:endParaRPr lang="en-US" sz="150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30512" y="5250557"/>
            <a:ext cx="386447" cy="386457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3530512" y="5747416"/>
            <a:ext cx="2692333" cy="231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ODS 13</a:t>
            </a:r>
            <a:endParaRPr lang="en-US" sz="1500" dirty="0"/>
          </a:p>
        </p:txBody>
      </p:sp>
      <p:sp>
        <p:nvSpPr>
          <p:cNvPr id="28" name="Text 18"/>
          <p:cNvSpPr/>
          <p:nvPr/>
        </p:nvSpPr>
        <p:spPr>
          <a:xfrm>
            <a:off x="3530512" y="6097796"/>
            <a:ext cx="2692333" cy="769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15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Calculadoras de huella de carbono; centros de datos sostenibles.</a:t>
            </a:r>
            <a:endParaRPr lang="en-US" sz="150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75241" y="5250557"/>
            <a:ext cx="386447" cy="386457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6375241" y="5747416"/>
            <a:ext cx="2768531" cy="231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ODS 15</a:t>
            </a:r>
            <a:endParaRPr lang="en-US" sz="1500" dirty="0"/>
          </a:p>
        </p:txBody>
      </p:sp>
      <p:sp>
        <p:nvSpPr>
          <p:cNvPr id="31" name="Text 20"/>
          <p:cNvSpPr/>
          <p:nvPr/>
        </p:nvSpPr>
        <p:spPr>
          <a:xfrm>
            <a:off x="6375241" y="6097796"/>
            <a:ext cx="2768531" cy="512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15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Apps de reciclaje, reforestación y biodiversidad.</a:t>
            </a:r>
            <a:endParaRPr lang="en-US" sz="1500" dirty="0"/>
          </a:p>
        </p:txBody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53356" y="609600"/>
            <a:ext cx="2031949" cy="563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458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33443A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0"/>
              </a:rPr>
              <a:t>ASG · DECISIONES COTIDIANAS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26576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41" kern="100" dirty="0">
                <a:solidFill>
                  <a:srgbClr val="12261A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0"/>
              </a:rPr>
              <a:t>ASG en el día a día de un equipo web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1619349"/>
            <a:ext cx="609585" cy="31651"/>
          </a:xfrm>
          <a:prstGeom prst="roundRect">
            <a:avLst>
              <a:gd name="adj" fmla="val 49998"/>
            </a:avLst>
          </a:prstGeom>
          <a:solidFill>
            <a:srgbClr val="17813A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5" y="2717800"/>
            <a:ext cx="3454314" cy="2516386"/>
          </a:xfrm>
          <a:prstGeom prst="rect">
            <a:avLst/>
          </a:prstGeom>
          <a:noFill/>
          <a:ln w="12700">
            <a:solidFill>
              <a:srgbClr val="17813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879" y="2959100"/>
            <a:ext cx="539736" cy="5397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0879" y="3625850"/>
            <a:ext cx="297172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Ambiental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50879" y="4086860"/>
            <a:ext cx="2971726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Eficiencia energética, menos residuos digitales y mayor vida útil de los recursos.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368691" y="2717800"/>
            <a:ext cx="3454314" cy="2516386"/>
          </a:xfrm>
          <a:prstGeom prst="rect">
            <a:avLst/>
          </a:prstGeom>
          <a:noFill/>
          <a:ln w="12700">
            <a:solidFill>
              <a:srgbClr val="17813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9985" y="2959100"/>
            <a:ext cx="539736" cy="5397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09985" y="3625850"/>
            <a:ext cx="297172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Social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4609985" y="4086860"/>
            <a:ext cx="2971726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Inclusión, condiciones laborales y participación comunitaria.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8127797" y="2717800"/>
            <a:ext cx="3454314" cy="2516386"/>
          </a:xfrm>
          <a:prstGeom prst="rect">
            <a:avLst/>
          </a:prstGeom>
          <a:noFill/>
          <a:ln w="12700">
            <a:solidFill>
              <a:srgbClr val="17813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9091" y="2959100"/>
            <a:ext cx="539736" cy="5397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369091" y="3625850"/>
            <a:ext cx="297172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Gobernanza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8369091" y="4086860"/>
            <a:ext cx="2971726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Ética, transparencia y responsabilidad corporativa.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458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33443A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0"/>
              </a:rPr>
              <a:t>GRUPOS DE INTERÉS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26576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41" kern="100" dirty="0">
                <a:solidFill>
                  <a:srgbClr val="12261A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0"/>
              </a:rPr>
              <a:t>Cinco grupos de interés, un mismo proyecto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1619349"/>
            <a:ext cx="609585" cy="31651"/>
          </a:xfrm>
          <a:prstGeom prst="roundRect">
            <a:avLst>
              <a:gd name="adj" fmla="val 49998"/>
            </a:avLst>
          </a:prstGeom>
          <a:solidFill>
            <a:srgbClr val="17813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897162"/>
            <a:ext cx="10628642" cy="43179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458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33443A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0"/>
              </a:rPr>
              <a:t>GRUPOS DE INTERÉS · RIESGOS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26576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41" kern="100" dirty="0">
                <a:solidFill>
                  <a:srgbClr val="12261A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0"/>
              </a:rPr>
              <a:t>Riesgos: lo que se pierde si se ignora ASG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1619349"/>
            <a:ext cx="609585" cy="31651"/>
          </a:xfrm>
          <a:prstGeom prst="roundRect">
            <a:avLst>
              <a:gd name="adj" fmla="val 49998"/>
            </a:avLst>
          </a:prstGeom>
          <a:solidFill>
            <a:srgbClr val="17813A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5" y="1897162"/>
            <a:ext cx="5333867" cy="2023170"/>
          </a:xfrm>
          <a:prstGeom prst="rect">
            <a:avLst/>
          </a:prstGeom>
          <a:solidFill>
            <a:srgbClr val="EFF7F0"/>
          </a:solidFill>
          <a:ln w="12700">
            <a:solidFill>
              <a:srgbClr val="17813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879" y="2138481"/>
            <a:ext cx="431789" cy="431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98563" y="2138462"/>
            <a:ext cx="420359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Incumplir el RGPD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498563" y="2599472"/>
            <a:ext cx="4444889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Sanciones y pérdida de confianza.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248244" y="1897162"/>
            <a:ext cx="5333867" cy="2023170"/>
          </a:xfrm>
          <a:prstGeom prst="rect">
            <a:avLst/>
          </a:prstGeom>
          <a:solidFill>
            <a:srgbClr val="EFF7F0"/>
          </a:solidFill>
          <a:ln w="12700">
            <a:solidFill>
              <a:srgbClr val="17813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9538" y="2138481"/>
            <a:ext cx="431789" cy="431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37221" y="2138462"/>
            <a:ext cx="420359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Malas condiciones laborales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7137221" y="2599472"/>
            <a:ext cx="4444889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Rotación y fatiga digital.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609585" y="4225131"/>
            <a:ext cx="5333867" cy="2023269"/>
          </a:xfrm>
          <a:prstGeom prst="rect">
            <a:avLst/>
          </a:prstGeom>
          <a:solidFill>
            <a:srgbClr val="EFF7F0"/>
          </a:solidFill>
          <a:ln w="12700">
            <a:solidFill>
              <a:srgbClr val="17813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879" y="4466451"/>
            <a:ext cx="431789" cy="4318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98563" y="4466431"/>
            <a:ext cx="420359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Falta de transparencia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1498563" y="4927441"/>
            <a:ext cx="4444889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Desconfianza de los clientes.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6248244" y="4225131"/>
            <a:ext cx="5333867" cy="2023269"/>
          </a:xfrm>
          <a:prstGeom prst="rect">
            <a:avLst/>
          </a:prstGeom>
          <a:solidFill>
            <a:srgbClr val="EFF7F0"/>
          </a:solidFill>
          <a:ln w="12700">
            <a:solidFill>
              <a:srgbClr val="17813A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9538" y="4466451"/>
            <a:ext cx="431789" cy="4318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137221" y="4466431"/>
            <a:ext cx="420359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Baja participación comunitaria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7137221" y="4927441"/>
            <a:ext cx="4444889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Menor aceptación del proyecto.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458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33443A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0"/>
              </a:rPr>
              <a:t>GRUPOS DE INTERÉS · OPORTUNIDADES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26576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41" kern="100" dirty="0">
                <a:solidFill>
                  <a:srgbClr val="12261A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0"/>
              </a:rPr>
              <a:t>Oportunidades: lo que se gana con ASG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1619349"/>
            <a:ext cx="609585" cy="31651"/>
          </a:xfrm>
          <a:prstGeom prst="roundRect">
            <a:avLst>
              <a:gd name="adj" fmla="val 49998"/>
            </a:avLst>
          </a:prstGeom>
          <a:solidFill>
            <a:srgbClr val="17813A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5" y="1897162"/>
            <a:ext cx="5333867" cy="2023170"/>
          </a:xfrm>
          <a:prstGeom prst="rect">
            <a:avLst/>
          </a:prstGeom>
          <a:solidFill>
            <a:srgbClr val="EFF7F0"/>
          </a:solidFill>
          <a:ln w="12700">
            <a:solidFill>
              <a:srgbClr val="17813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879" y="2138481"/>
            <a:ext cx="431789" cy="431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98563" y="2138462"/>
            <a:ext cx="420359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Cumplimiento normativo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498563" y="2599472"/>
            <a:ext cx="4444889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Continuidad del servicio.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248244" y="1897162"/>
            <a:ext cx="5333867" cy="2023170"/>
          </a:xfrm>
          <a:prstGeom prst="rect">
            <a:avLst/>
          </a:prstGeom>
          <a:solidFill>
            <a:srgbClr val="EFF7F0"/>
          </a:solidFill>
          <a:ln w="12700">
            <a:solidFill>
              <a:srgbClr val="17813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9538" y="2138481"/>
            <a:ext cx="431789" cy="431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37221" y="2138462"/>
            <a:ext cx="420359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Mejor reputación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7137221" y="2599472"/>
            <a:ext cx="4444889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Talento retenido.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609585" y="4225131"/>
            <a:ext cx="5333867" cy="2023269"/>
          </a:xfrm>
          <a:prstGeom prst="rect">
            <a:avLst/>
          </a:prstGeom>
          <a:solidFill>
            <a:srgbClr val="EFF7F0"/>
          </a:solidFill>
          <a:ln w="12700">
            <a:solidFill>
              <a:srgbClr val="17813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879" y="4466451"/>
            <a:ext cx="431789" cy="4318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98563" y="4466431"/>
            <a:ext cx="420359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Transparencia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1498563" y="4927441"/>
            <a:ext cx="4444889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Confianza de los clientes.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6248244" y="4225131"/>
            <a:ext cx="5333867" cy="2023269"/>
          </a:xfrm>
          <a:prstGeom prst="rect">
            <a:avLst/>
          </a:prstGeom>
          <a:solidFill>
            <a:srgbClr val="EFF7F0"/>
          </a:solidFill>
          <a:ln w="12700">
            <a:solidFill>
              <a:srgbClr val="17813A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9538" y="4466451"/>
            <a:ext cx="431789" cy="4318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137221" y="4466431"/>
            <a:ext cx="420359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Comunidad activa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7137221" y="4927441"/>
            <a:ext cx="4444889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Más recursos para el proyecto.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458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33443A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0"/>
              </a:rPr>
              <a:t>EVALUACIÓN · MEJORA CONTINUA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26576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41" kern="100" dirty="0">
                <a:solidFill>
                  <a:srgbClr val="12261A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0"/>
              </a:rPr>
              <a:t>Lo que no se mide, no mejora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1619349"/>
            <a:ext cx="609585" cy="31651"/>
          </a:xfrm>
          <a:prstGeom prst="roundRect">
            <a:avLst>
              <a:gd name="adj" fmla="val 49998"/>
            </a:avLst>
          </a:prstGeom>
          <a:solidFill>
            <a:srgbClr val="17813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4070846"/>
            <a:ext cx="539736" cy="5397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4806448"/>
            <a:ext cx="3428914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Medir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09585" y="5219541"/>
            <a:ext cx="3428914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Medir el rendimiento ASG y seguir el progreso.</a:t>
            </a:r>
            <a:endParaRPr lang="en-US" sz="17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688" y="4070846"/>
            <a:ext cx="539736" cy="5397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95688" y="4806448"/>
            <a:ext cx="3200320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Reportar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4495688" y="5219541"/>
            <a:ext cx="3200320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Comunicar con transparencia a los grupos de interés.</a:t>
            </a:r>
            <a:endParaRPr lang="en-US" sz="17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3196" y="4070846"/>
            <a:ext cx="539736" cy="5397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153196" y="4806448"/>
            <a:ext cx="3428914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Mejorar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8153196" y="5219541"/>
            <a:ext cx="3428914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Mejorar y fijar objetivos claros.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609585" y="6017022"/>
            <a:ext cx="11582110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dirty="0">
                <a:solidFill>
                  <a:srgbClr val="4F5E55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El progreso se comparte con los grupos de interés.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4260743" y="4070846"/>
            <a:ext cx="12700" cy="1752501"/>
          </a:xfrm>
          <a:prstGeom prst="rect">
            <a:avLst/>
          </a:prstGeom>
          <a:solidFill>
            <a:srgbClr val="EFF7F0"/>
          </a:solidFill>
          <a:ln/>
        </p:spPr>
      </p:sp>
      <p:sp>
        <p:nvSpPr>
          <p:cNvPr id="16" name="Shape 11"/>
          <p:cNvSpPr/>
          <p:nvPr/>
        </p:nvSpPr>
        <p:spPr>
          <a:xfrm>
            <a:off x="7918252" y="4070846"/>
            <a:ext cx="12700" cy="1752501"/>
          </a:xfrm>
          <a:prstGeom prst="rect">
            <a:avLst/>
          </a:prstGeom>
          <a:solidFill>
            <a:srgbClr val="EFF7F0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458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33443A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0"/>
              </a:rPr>
              <a:t>EVALUACIÓN · REFERENTES Y PRÁCTICA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26576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41" kern="100" dirty="0">
                <a:solidFill>
                  <a:srgbClr val="12261A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0"/>
              </a:rPr>
              <a:t>Estándares y herramientas de evaluación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1619349"/>
            <a:ext cx="609585" cy="31651"/>
          </a:xfrm>
          <a:prstGeom prst="roundRect">
            <a:avLst>
              <a:gd name="adj" fmla="val 49998"/>
            </a:avLst>
          </a:prstGeom>
          <a:solidFill>
            <a:srgbClr val="17813A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5" y="1897162"/>
            <a:ext cx="3454314" cy="2214166"/>
          </a:xfrm>
          <a:prstGeom prst="rect">
            <a:avLst/>
          </a:prstGeom>
          <a:noFill/>
          <a:ln w="12700">
            <a:solidFill>
              <a:srgbClr val="17813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879" y="2138462"/>
            <a:ext cx="539736" cy="5397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0879" y="2805212"/>
            <a:ext cx="297172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GRI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50879" y="3266222"/>
            <a:ext cx="321302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Impactos de sostenibilidad.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368691" y="1897162"/>
            <a:ext cx="3454314" cy="2214166"/>
          </a:xfrm>
          <a:prstGeom prst="rect">
            <a:avLst/>
          </a:prstGeom>
          <a:noFill/>
          <a:ln w="12700">
            <a:solidFill>
              <a:srgbClr val="17813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9985" y="2138462"/>
            <a:ext cx="539736" cy="5397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09985" y="2805212"/>
            <a:ext cx="297172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ISO 26000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4609985" y="3266222"/>
            <a:ext cx="2971726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Guía de responsabilidad social.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8127797" y="1897162"/>
            <a:ext cx="3454314" cy="2214166"/>
          </a:xfrm>
          <a:prstGeom prst="rect">
            <a:avLst/>
          </a:prstGeom>
          <a:noFill/>
          <a:ln w="12700">
            <a:solidFill>
              <a:srgbClr val="17813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9091" y="2138462"/>
            <a:ext cx="539736" cy="5397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369091" y="2805212"/>
            <a:ext cx="297172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SASB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8369091" y="3266222"/>
            <a:ext cx="2971726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Divulgación sectorial financieramente relevante.</a:t>
            </a:r>
            <a:endParaRPr lang="en-US" sz="17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5" y="5171480"/>
            <a:ext cx="431789" cy="4318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09585" y="5732457"/>
            <a:ext cx="2514537" cy="51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Informe de sostenibilidad</a:t>
            </a:r>
            <a:endParaRPr lang="en-US" sz="17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8914" y="5171480"/>
            <a:ext cx="431789" cy="4318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3428914" y="5732457"/>
            <a:ext cx="2514537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Auditoría ambiental</a:t>
            </a:r>
            <a:endParaRPr lang="en-US" sz="17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244" y="5171480"/>
            <a:ext cx="431789" cy="4318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248244" y="5732457"/>
            <a:ext cx="2514537" cy="51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Encuestas de satisfacción</a:t>
            </a:r>
            <a:endParaRPr lang="en-US" sz="17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67573" y="5171480"/>
            <a:ext cx="431789" cy="43180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9067573" y="5732457"/>
            <a:ext cx="2514537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KPI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76678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263" y="1618436"/>
            <a:ext cx="670543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33443A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0"/>
              </a:rPr>
              <a:t>INVERSIÓN SOCIALMENTE RESPONSABLE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263" y="1932555"/>
            <a:ext cx="6095848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41" kern="100" dirty="0">
                <a:solidFill>
                  <a:srgbClr val="12261A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0"/>
              </a:rPr>
              <a:t>ISR: invertir con criterios ASG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263" y="2625328"/>
            <a:ext cx="609585" cy="31651"/>
          </a:xfrm>
          <a:prstGeom prst="roundRect">
            <a:avLst>
              <a:gd name="adj" fmla="val 49998"/>
            </a:avLst>
          </a:prstGeom>
          <a:solidFill>
            <a:srgbClr val="17813A"/>
          </a:solidFill>
          <a:ln/>
        </p:spPr>
      </p:sp>
      <p:sp>
        <p:nvSpPr>
          <p:cNvPr id="6" name="Text 3"/>
          <p:cNvSpPr/>
          <p:nvPr/>
        </p:nvSpPr>
        <p:spPr>
          <a:xfrm>
            <a:off x="5486263" y="2903141"/>
            <a:ext cx="6095848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0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Integrar factores ambientales, sociales y de gobernanza en las decisiones de inversión.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486263" y="4001373"/>
            <a:ext cx="6095848" cy="1259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4000" spc="-80" kern="100" dirty="0">
                <a:solidFill>
                  <a:srgbClr val="12261A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0"/>
              </a:rPr>
              <a:t>Retorno financiero</a:t>
            </a:r>
            <a:endParaRPr lang="en-US" sz="4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4000" spc="-80" kern="100" dirty="0">
                <a:solidFill>
                  <a:srgbClr val="12261A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0"/>
              </a:rPr>
              <a:t>e </a:t>
            </a:r>
            <a:pPr algn="l" indent="0" marL="0">
              <a:lnSpc>
                <a:spcPct val="103000"/>
              </a:lnSpc>
              <a:buNone/>
            </a:pPr>
            <a:r>
              <a:rPr lang="en-US" sz="4000" spc="-80" kern="100" dirty="0">
                <a:solidFill>
                  <a:srgbClr val="12261A"/>
                </a:solidFill>
                <a:highlight>
                  <a:srgbClr val="F4E23C"/>
                </a:highlight>
                <a:latin typeface="Hedvig Letters Serif" pitchFamily="34" charset="0"/>
                <a:ea typeface="Hedvig Letters Serif" pitchFamily="34" charset="-122"/>
                <a:cs typeface="Hedvig Letters Serif" pitchFamily="34" charset="0"/>
              </a:rPr>
              <a:t>impacto positivo.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458"/>
            <a:ext cx="751821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33443A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0"/>
              </a:rPr>
              <a:t>ISR · AGENTES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26576"/>
            <a:ext cx="6908627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41" kern="100" dirty="0">
                <a:solidFill>
                  <a:srgbClr val="12261A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0"/>
              </a:rPr>
              <a:t>Quién mueve la ISR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1619349"/>
            <a:ext cx="609585" cy="31651"/>
          </a:xfrm>
          <a:prstGeom prst="roundRect">
            <a:avLst>
              <a:gd name="adj" fmla="val 49998"/>
            </a:avLst>
          </a:prstGeom>
          <a:solidFill>
            <a:srgbClr val="17813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024142"/>
            <a:ext cx="431789" cy="431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57269" y="2024797"/>
            <a:ext cx="6260943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Analistas financieros e inversores</a:t>
            </a:r>
            <a:endParaRPr lang="en-US" sz="17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2740501"/>
            <a:ext cx="431789" cy="4318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57269" y="2741156"/>
            <a:ext cx="6260943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Fondos de inversión ISR</a:t>
            </a:r>
            <a:endParaRPr lang="en-US" sz="17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3456853"/>
            <a:ext cx="431789" cy="4318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57269" y="3459058"/>
            <a:ext cx="6260943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Agencias</a:t>
            </a:r>
            <a:endParaRPr lang="en-US" sz="1700" dirty="0"/>
          </a:p>
        </p:txBody>
      </p:sp>
      <p:sp>
        <p:nvSpPr>
          <p:cNvPr id="11" name="Text 6"/>
          <p:cNvSpPr/>
          <p:nvPr/>
        </p:nvSpPr>
        <p:spPr>
          <a:xfrm>
            <a:off x="1257269" y="3872151"/>
            <a:ext cx="6260943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MSCI ESG Ratings · Sustainalytics</a:t>
            </a:r>
            <a:endParaRPr lang="en-US" sz="17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5" y="4587847"/>
            <a:ext cx="431789" cy="4318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57269" y="4590052"/>
            <a:ext cx="6260943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Índices</a:t>
            </a:r>
            <a:endParaRPr lang="en-US" sz="1700" dirty="0"/>
          </a:p>
        </p:txBody>
      </p:sp>
      <p:sp>
        <p:nvSpPr>
          <p:cNvPr id="14" name="Text 8"/>
          <p:cNvSpPr/>
          <p:nvPr/>
        </p:nvSpPr>
        <p:spPr>
          <a:xfrm>
            <a:off x="1257269" y="5003145"/>
            <a:ext cx="6260943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DJSI · FTSE4Good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609585" y="5785644"/>
            <a:ext cx="6908627" cy="462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dirty="0">
                <a:solidFill>
                  <a:srgbClr val="4F5E55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En web: proveedores sostenibles (ISO 14001), proyectos comunitarios y educación en sostenibilidad.</a:t>
            </a:r>
            <a:endParaRPr lang="en-US" sz="13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7797" y="609600"/>
            <a:ext cx="3657509" cy="5638800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609585" y="2607171"/>
            <a:ext cx="6908627" cy="12700"/>
          </a:xfrm>
          <a:prstGeom prst="rect">
            <a:avLst/>
          </a:prstGeom>
          <a:solidFill>
            <a:srgbClr val="17813A"/>
          </a:solidFill>
          <a:ln/>
        </p:spPr>
      </p:sp>
      <p:sp>
        <p:nvSpPr>
          <p:cNvPr id="18" name="Shape 11"/>
          <p:cNvSpPr/>
          <p:nvPr/>
        </p:nvSpPr>
        <p:spPr>
          <a:xfrm>
            <a:off x="609585" y="3323530"/>
            <a:ext cx="6908627" cy="12700"/>
          </a:xfrm>
          <a:prstGeom prst="rect">
            <a:avLst/>
          </a:prstGeom>
          <a:solidFill>
            <a:srgbClr val="17813A"/>
          </a:solidFill>
          <a:ln/>
        </p:spPr>
      </p:sp>
      <p:sp>
        <p:nvSpPr>
          <p:cNvPr id="19" name="Shape 12"/>
          <p:cNvSpPr/>
          <p:nvPr/>
        </p:nvSpPr>
        <p:spPr>
          <a:xfrm>
            <a:off x="609585" y="4454525"/>
            <a:ext cx="6908627" cy="12700"/>
          </a:xfrm>
          <a:prstGeom prst="rect">
            <a:avLst/>
          </a:prstGeom>
          <a:solidFill>
            <a:srgbClr val="17813A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458"/>
            <a:ext cx="751821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33443A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0"/>
              </a:rPr>
              <a:t>APLICACIÓN · PROYECTO WEB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26576"/>
            <a:ext cx="6908627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41" kern="100" dirty="0">
                <a:solidFill>
                  <a:srgbClr val="12261A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0"/>
              </a:rPr>
              <a:t>Un proyecto web sostenible, de principio a fin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2077045"/>
            <a:ext cx="609585" cy="31651"/>
          </a:xfrm>
          <a:prstGeom prst="roundRect">
            <a:avLst>
              <a:gd name="adj" fmla="val 49998"/>
            </a:avLst>
          </a:prstGeom>
          <a:solidFill>
            <a:srgbClr val="17813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507238"/>
            <a:ext cx="431789" cy="431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57269" y="2507893"/>
            <a:ext cx="6260943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Reciclaje digital, energía renovable y código eficiente.</a:t>
            </a:r>
            <a:endParaRPr lang="en-US" sz="17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3114258"/>
            <a:ext cx="431789" cy="4318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57269" y="3114913"/>
            <a:ext cx="6260943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Igualdad, inclusión y accesibilidad; seminarios para jóvenes programadores.</a:t>
            </a:r>
            <a:endParaRPr lang="en-US" sz="17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4023499"/>
            <a:ext cx="431789" cy="4318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57269" y="4024154"/>
            <a:ext cx="6260943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Transparencia y rendición de cuentas.</a:t>
            </a:r>
            <a:endParaRPr lang="en-US" sz="1700" dirty="0"/>
          </a:p>
        </p:txBody>
      </p:sp>
      <p:sp>
        <p:nvSpPr>
          <p:cNvPr id="11" name="Text 6"/>
          <p:cNvSpPr/>
          <p:nvPr/>
        </p:nvSpPr>
        <p:spPr>
          <a:xfrm>
            <a:off x="609585" y="5943600"/>
            <a:ext cx="690862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2261A"/>
                </a:solidFill>
                <a:highlight>
                  <a:srgbClr val="F4E23C"/>
                </a:highlight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Programar hoy pensando en el futuro.</a:t>
            </a:r>
            <a:endParaRPr lang="en-US" sz="20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7797" y="0"/>
            <a:ext cx="4063898" cy="685800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609585" y="2955528"/>
            <a:ext cx="6908627" cy="12700"/>
          </a:xfrm>
          <a:prstGeom prst="rect">
            <a:avLst/>
          </a:prstGeom>
          <a:solidFill>
            <a:srgbClr val="17813A"/>
          </a:solidFill>
          <a:ln/>
        </p:spPr>
      </p:sp>
      <p:sp>
        <p:nvSpPr>
          <p:cNvPr id="14" name="Shape 8"/>
          <p:cNvSpPr/>
          <p:nvPr/>
        </p:nvSpPr>
        <p:spPr>
          <a:xfrm>
            <a:off x="609585" y="3864769"/>
            <a:ext cx="6908627" cy="12700"/>
          </a:xfrm>
          <a:prstGeom prst="rect">
            <a:avLst/>
          </a:prstGeom>
          <a:solidFill>
            <a:srgbClr val="17813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2026-10-23T09:04:29Z</dcterms:created>
  <dcterms:modified xsi:type="dcterms:W3CDTF">2026-10-23T09:04:29Z</dcterms:modified>
</cp:coreProperties>
</file>
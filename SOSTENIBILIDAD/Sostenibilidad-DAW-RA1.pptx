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Albert Sans"/>
      <p:regular r:id="rId201314"/>
    </p:embeddedFont>
    <p:embeddedFont>
      <p:font typeface="Albert Sans SemiBold"/>
      <p:regular r:id="rId201315"/>
    </p:embeddedFont>
    <p:embeddedFont>
      <p:font typeface="Albert Sans Bold"/>
      <p:regular r:id="rId201316"/>
    </p:embeddedFont>
    <p:embeddedFont>
      <p:font typeface="Hedvig Letters Serif"/>
      <p:regular r:id="rId201317"/>
    </p:embeddedFont>
    <p:embeddedFont>
      <p:font typeface="Red Hat Mono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tecnología también depende de recursos, energía y personas. En este bloque situaremos el desarrollo web dentro de la sostenibilidad, desde sus principios hasta los factores ASG y los 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ruta completa del RA1. Primero entenderemos la sostenibilidad, los marcos y los factores ASG. Después conectaremos con los ODS y avanzaremos hacia grupos de interés, métricas e inversión socialmente responsable.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sostenibilidad combina dos horizontes: atender las necesidades actuales y mantener las posibilidades de quienes vendrán después. Para DAW, esto implica pensar también en los recursos y las consecuencias de nuestras decisiones tecnológicas.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círculos se solapan porque ningún pilar funciona aislado. La prosperidad debe ser compatible con la protección del entorno y con unas condiciones sociales justas. La sostenibilidad ocupa ese espacio compartido.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Estos marcos actúan en ámbitos distintos. La Agenda 2030 fija objetivos globales; el Acuerdo de París orienta la acción climática; los Principios del Ecuador abordan riesgos ambientales y sociales en la financiación de proyectos.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ASG significa ambiental, social y gobernanza. No es la misma clasificación que los tres pilares: aquí aparece la gobernanza para examinar cómo se dirige y controla una organización. Las tres dimensiones permiten analizar su impacto.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factor ambiental observa recursos, emisiones y ecosistemas. En desarrollo web podemos empezar por la eficiencia energética y la vida útil de los equipos, sin olvidar los residuos electrónicos ni los recursos que utiliza la infraestructura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dimensión social pregunta cómo afecta una organización a las personas: quienes trabajan en ella, quienes usan sus productos y su comunidad. En DAW, la accesibilidad y la inclusión ayudan a traducir estos principios en decisiones de diseño.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gobernanza se centra en las reglas y responsabilidades de una organización. Importa saber quién decide, qué controles existen y cómo se explican los resultados. La confianza necesita transparencia, conducta ética y rendición de cuentas.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Pasamos de las dimensiones con las que evaluamos una organización a los objetivos globales de la Agenda 2030. Los 17 ODS nos darán un marco para preguntar qué cambios queremos conseguir y cómo puede contribuir el desarrollo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jpe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1397000"/>
            <a:ext cx="6857828" cy="406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81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30272" y="2211864"/>
            <a:ext cx="662923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TECNOLOGÍA · DESARROLLO WEB · PLANETA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30272" y="2537158"/>
            <a:ext cx="6019649" cy="1130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200" spc="-50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Sostenibilidad — DAW, RA1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130272" y="3891756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6" name="Text 4"/>
          <p:cNvSpPr/>
          <p:nvPr/>
        </p:nvSpPr>
        <p:spPr>
          <a:xfrm>
            <a:off x="1130272" y="4344194"/>
            <a:ext cx="601964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Tecnología, desarrollo web y planeta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751821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RUTA DE APRENDIZAJE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6908627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Qué vamos a aprender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054622"/>
            <a:ext cx="81774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813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70137" y="2012097"/>
            <a:ext cx="654807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Sostenibilidad y marcos internacionales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2779812"/>
            <a:ext cx="87627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813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02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28674" y="2737287"/>
            <a:ext cx="648953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Factores ASG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9585" y="3505002"/>
            <a:ext cx="876675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813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03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29071" y="3462476"/>
            <a:ext cx="64891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El salto a los ODS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585" y="4230191"/>
            <a:ext cx="889176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813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04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41572" y="4187666"/>
            <a:ext cx="647664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Grupos de interés: riesgos y oportunidades ASG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09585" y="4955381"/>
            <a:ext cx="882132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813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05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34528" y="4912856"/>
            <a:ext cx="648368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Métricas y estándares de sostenibilidad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09585" y="5680571"/>
            <a:ext cx="88014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700" dirty="0">
                <a:solidFill>
                  <a:srgbClr val="17813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06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32544" y="5638046"/>
            <a:ext cx="6485668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Inversión socialmente responsable (ISR) y sus agentes</a:t>
            </a:r>
            <a:endParaRPr lang="en-US" sz="17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7797" y="609600"/>
            <a:ext cx="3657509" cy="563880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609585" y="2616002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9" name="Shape 16"/>
          <p:cNvSpPr/>
          <p:nvPr/>
        </p:nvSpPr>
        <p:spPr>
          <a:xfrm>
            <a:off x="609585" y="3341191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20" name="Shape 17"/>
          <p:cNvSpPr/>
          <p:nvPr/>
        </p:nvSpPr>
        <p:spPr>
          <a:xfrm>
            <a:off x="609585" y="4066381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21" name="Shape 18"/>
          <p:cNvSpPr/>
          <p:nvPr/>
        </p:nvSpPr>
        <p:spPr>
          <a:xfrm>
            <a:off x="609585" y="4791571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22" name="Shape 19"/>
          <p:cNvSpPr/>
          <p:nvPr/>
        </p:nvSpPr>
        <p:spPr>
          <a:xfrm>
            <a:off x="609585" y="5516761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7667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263" y="2106791"/>
            <a:ext cx="670543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EL PRINCIPIO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263" y="2420910"/>
            <a:ext cx="6095848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Sostenibilidad: cubrir el presente sin hipotecar el futuro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263" y="357137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6" name="Text 3"/>
          <p:cNvSpPr/>
          <p:nvPr/>
        </p:nvSpPr>
        <p:spPr>
          <a:xfrm>
            <a:off x="5486263" y="3849191"/>
            <a:ext cx="6095848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500"/>
              </a:spcAft>
              <a:buNone/>
            </a:pPr>
            <a:r>
              <a:rPr lang="en-US" sz="20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Satisfacer las necesidades del presente.</a:t>
            </a:r>
            <a:endParaRPr lang="en-US" sz="2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2000" dirty="0">
                <a:solidFill>
                  <a:srgbClr val="17813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Sin comprometer a las futuras generaciones.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EQUILIBRIO ENTRE PILARES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Tres pilares que se sostienen entre sí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0312" y="2008485"/>
            <a:ext cx="4467808" cy="4190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62116" y="5075241"/>
            <a:ext cx="1523520" cy="121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Ambiental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342796" y="5075241"/>
            <a:ext cx="1523520" cy="121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Social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667371" y="2729587"/>
            <a:ext cx="2193690" cy="1215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Económico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114151" y="4002942"/>
            <a:ext cx="1300130" cy="121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Sostenibilidad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375936" y="2100362"/>
            <a:ext cx="42061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Ambiental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375936" y="2561372"/>
            <a:ext cx="4206174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Proteger recursos. Reducir contaminación. Mitigar el cambio climático.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375936" y="3873798"/>
            <a:ext cx="42061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Social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375936" y="4334808"/>
            <a:ext cx="4206174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Igualdad, justicia social, trabajo justo e inclusión.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375936" y="5345013"/>
            <a:ext cx="4206174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Económico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375936" y="5806023"/>
            <a:ext cx="420617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Generar prosperidad sin dañar.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375936" y="3664248"/>
            <a:ext cx="4206174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7" name="Shape 14"/>
          <p:cNvSpPr/>
          <p:nvPr/>
        </p:nvSpPr>
        <p:spPr>
          <a:xfrm>
            <a:off x="7375936" y="5135463"/>
            <a:ext cx="4206174" cy="12700"/>
          </a:xfrm>
          <a:prstGeom prst="rect">
            <a:avLst/>
          </a:prstGeom>
          <a:solidFill>
            <a:srgbClr val="17813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REFERENTES GLOBALES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Tres marcos internacionales marcan el rumbo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575917"/>
            <a:ext cx="3454314" cy="2800152"/>
          </a:xfrm>
          <a:prstGeom prst="rect">
            <a:avLst/>
          </a:prstGeom>
          <a:noFill/>
          <a:ln w="12700">
            <a:solidFill>
              <a:srgbClr val="1781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879" y="2817217"/>
            <a:ext cx="539736" cy="5397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879" y="3486825"/>
            <a:ext cx="32130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2015 · ONU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50879" y="3767733"/>
            <a:ext cx="29717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Agenda 2030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50879" y="4228743"/>
            <a:ext cx="3213020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17 ODS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368691" y="2575917"/>
            <a:ext cx="3454314" cy="2800152"/>
          </a:xfrm>
          <a:prstGeom prst="rect">
            <a:avLst/>
          </a:prstGeom>
          <a:noFill/>
          <a:ln w="12700">
            <a:solidFill>
              <a:srgbClr val="17813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985" y="2817217"/>
            <a:ext cx="539736" cy="5397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9985" y="3486825"/>
            <a:ext cx="32130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2015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609985" y="3767733"/>
            <a:ext cx="29717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Acuerdo de París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609985" y="4228743"/>
            <a:ext cx="2971726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Bajo 2 °C.</a:t>
            </a:r>
            <a:endParaRPr lang="en-US" sz="17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Perseguir 1,5 °C.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8127797" y="2575917"/>
            <a:ext cx="3454314" cy="2800152"/>
          </a:xfrm>
          <a:prstGeom prst="rect">
            <a:avLst/>
          </a:prstGeom>
          <a:noFill/>
          <a:ln w="12700">
            <a:solidFill>
              <a:srgbClr val="17813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091" y="2817217"/>
            <a:ext cx="539736" cy="5397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9091" y="3486825"/>
            <a:ext cx="32130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2003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369091" y="3767733"/>
            <a:ext cx="2971726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Principios del Ecuador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369091" y="4228743"/>
            <a:ext cx="2971726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Riesgos ambientales y sociales en la financiación de proyectos.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DEL PRINCIPIO A LA EVALUACIÓN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ASG: tres dimensiones para medir el impacto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5" name="Text 3"/>
          <p:cNvSpPr/>
          <p:nvPr/>
        </p:nvSpPr>
        <p:spPr>
          <a:xfrm>
            <a:off x="1908723" y="2691606"/>
            <a:ext cx="3098722" cy="167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0" spc="-240" kern="100" dirty="0">
                <a:solidFill>
                  <a:srgbClr val="17813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A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1838081" y="4380706"/>
            <a:ext cx="30987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Ambiental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48151" y="4841716"/>
            <a:ext cx="278996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Impacto en el entorno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707217" y="2691606"/>
            <a:ext cx="3098722" cy="167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0" spc="-240" kern="100" dirty="0">
                <a:solidFill>
                  <a:srgbClr val="236B91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S</a:t>
            </a:r>
            <a:endParaRPr lang="en-US" sz="12000" dirty="0"/>
          </a:p>
        </p:txBody>
      </p:sp>
      <p:sp>
        <p:nvSpPr>
          <p:cNvPr id="9" name="Text 7"/>
          <p:cNvSpPr/>
          <p:nvPr/>
        </p:nvSpPr>
        <p:spPr>
          <a:xfrm>
            <a:off x="5744027" y="4380706"/>
            <a:ext cx="30987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Social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5728" y="4841716"/>
            <a:ext cx="300972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Impacto en las personas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209254" y="2691606"/>
            <a:ext cx="3098722" cy="1676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0" spc="-240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G</a:t>
            </a:r>
            <a:endParaRPr lang="en-US" sz="12000" dirty="0"/>
          </a:p>
        </p:txBody>
      </p:sp>
      <p:sp>
        <p:nvSpPr>
          <p:cNvPr id="12" name="Text 10"/>
          <p:cNvSpPr/>
          <p:nvPr/>
        </p:nvSpPr>
        <p:spPr>
          <a:xfrm>
            <a:off x="9051004" y="4380706"/>
            <a:ext cx="309872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Gobernanza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397665" y="4841716"/>
            <a:ext cx="3184445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Cómo se toman decisiones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9585" y="6017121"/>
            <a:ext cx="11582110" cy="231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50" dirty="0">
                <a:solidFill>
                  <a:srgbClr val="4F5E55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Tres dimensiones complementarias para evaluar una organización.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260743" y="2297906"/>
            <a:ext cx="12700" cy="3124795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6" name="Shape 14"/>
          <p:cNvSpPr/>
          <p:nvPr/>
        </p:nvSpPr>
        <p:spPr>
          <a:xfrm>
            <a:off x="7918252" y="2297906"/>
            <a:ext cx="12700" cy="3124795"/>
          </a:xfrm>
          <a:prstGeom prst="rect">
            <a:avLst/>
          </a:prstGeom>
          <a:solidFill>
            <a:srgbClr val="17813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751821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ASG · AMBIENTAL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6908627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Factor ambiental: cuidar el entorno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087642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2971" y="2050197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Gestión de residuos</a:t>
            </a:r>
            <a:endParaRPr lang="en-US" sz="1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2957890"/>
            <a:ext cx="355591" cy="355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2971" y="2920444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Reducción de emisiones de CO₂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3828137"/>
            <a:ext cx="355591" cy="355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2971" y="3790692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Eficiencia energética</a:t>
            </a:r>
            <a:endParaRPr lang="en-US" sz="1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4698385"/>
            <a:ext cx="355591" cy="355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42971" y="4660940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Conservación del agua</a:t>
            </a:r>
            <a:endParaRPr lang="en-US" sz="17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5568633"/>
            <a:ext cx="355591" cy="355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42971" y="5531187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Protección de la biodiversidad</a:t>
            </a:r>
            <a:endParaRPr lang="en-US" sz="17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7797" y="609600"/>
            <a:ext cx="3657509" cy="563880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609585" y="2761059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7" name="Shape 9"/>
          <p:cNvSpPr/>
          <p:nvPr/>
        </p:nvSpPr>
        <p:spPr>
          <a:xfrm>
            <a:off x="609585" y="3631307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8" name="Shape 10"/>
          <p:cNvSpPr/>
          <p:nvPr/>
        </p:nvSpPr>
        <p:spPr>
          <a:xfrm>
            <a:off x="609585" y="4501555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9" name="Shape 11"/>
          <p:cNvSpPr/>
          <p:nvPr/>
        </p:nvSpPr>
        <p:spPr>
          <a:xfrm>
            <a:off x="609585" y="5371802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390" y="609600"/>
            <a:ext cx="3657509" cy="5638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73483" y="612458"/>
            <a:ext cx="751821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ASG · SOCIAL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673483" y="926576"/>
            <a:ext cx="6908627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Factor social: las personas primero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4673483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83" y="2087642"/>
            <a:ext cx="355591" cy="355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06870" y="2050197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Condiciones laborales</a:t>
            </a:r>
            <a:endParaRPr lang="en-US" sz="1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483" y="2957890"/>
            <a:ext cx="355591" cy="355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06870" y="2920444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Derechos humanos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483" y="3828137"/>
            <a:ext cx="355591" cy="355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06870" y="3790692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Igualdad de género</a:t>
            </a:r>
            <a:endParaRPr lang="en-US" sz="17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3483" y="4698385"/>
            <a:ext cx="355591" cy="355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206870" y="4660940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Inclusión social</a:t>
            </a:r>
            <a:endParaRPr lang="en-US" sz="17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3483" y="5568633"/>
            <a:ext cx="355591" cy="355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5206870" y="5531187"/>
            <a:ext cx="6375241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Responsabilidad comunitaria</a:t>
            </a:r>
            <a:endParaRPr lang="en-US" sz="1700" dirty="0"/>
          </a:p>
        </p:txBody>
      </p:sp>
      <p:sp>
        <p:nvSpPr>
          <p:cNvPr id="16" name="Shape 8"/>
          <p:cNvSpPr/>
          <p:nvPr/>
        </p:nvSpPr>
        <p:spPr>
          <a:xfrm>
            <a:off x="4673483" y="2761059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7" name="Shape 9"/>
          <p:cNvSpPr/>
          <p:nvPr/>
        </p:nvSpPr>
        <p:spPr>
          <a:xfrm>
            <a:off x="4673483" y="3631307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8" name="Shape 10"/>
          <p:cNvSpPr/>
          <p:nvPr/>
        </p:nvSpPr>
        <p:spPr>
          <a:xfrm>
            <a:off x="4673483" y="4501555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9" name="Shape 11"/>
          <p:cNvSpPr/>
          <p:nvPr/>
        </p:nvSpPr>
        <p:spPr>
          <a:xfrm>
            <a:off x="4673483" y="5371802"/>
            <a:ext cx="6908627" cy="12700"/>
          </a:xfrm>
          <a:prstGeom prst="rect">
            <a:avLst/>
          </a:prstGeom>
          <a:solidFill>
            <a:srgbClr val="17813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ASG · GOBERNANZA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6576"/>
            <a:ext cx="10972526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Gobernanza: confianza y responsabilidad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1619349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38481"/>
            <a:ext cx="355591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2971" y="2100362"/>
            <a:ext cx="104391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Transparencia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42971" y="2561372"/>
            <a:ext cx="1043913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Información clara y verificable.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3340715"/>
            <a:ext cx="355591" cy="35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2971" y="3302595"/>
            <a:ext cx="104391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Ética empresarial y lucha contra la corrupción</a:t>
            </a:r>
            <a:endParaRPr lang="en-US" sz="20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085153"/>
            <a:ext cx="355591" cy="355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2971" y="4047034"/>
            <a:ext cx="104391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Gestión de riesgos</a:t>
            </a:r>
            <a:endParaRPr lang="en-US" sz="2000" dirty="0"/>
          </a:p>
        </p:txBody>
      </p:sp>
      <p:sp>
        <p:nvSpPr>
          <p:cNvPr id="12" name="Text 7"/>
          <p:cNvSpPr/>
          <p:nvPr/>
        </p:nvSpPr>
        <p:spPr>
          <a:xfrm>
            <a:off x="1142971" y="4508044"/>
            <a:ext cx="1043913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Anticipar problemas y establecer controles.</a:t>
            </a:r>
            <a:endParaRPr lang="en-US" sz="1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5287387"/>
            <a:ext cx="355591" cy="355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2971" y="5249267"/>
            <a:ext cx="1043913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Rendición de cuentas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1142971" y="5710277"/>
            <a:ext cx="1043913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Responder por las decisiones y sus resultados.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609585" y="3093045"/>
            <a:ext cx="10972526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7" name="Shape 11"/>
          <p:cNvSpPr/>
          <p:nvPr/>
        </p:nvSpPr>
        <p:spPr>
          <a:xfrm>
            <a:off x="609585" y="3837484"/>
            <a:ext cx="10972526" cy="12700"/>
          </a:xfrm>
          <a:prstGeom prst="rect">
            <a:avLst/>
          </a:prstGeom>
          <a:solidFill>
            <a:srgbClr val="17813A"/>
          </a:solidFill>
          <a:ln/>
        </p:spPr>
      </p:sp>
      <p:sp>
        <p:nvSpPr>
          <p:cNvPr id="18" name="Shape 12"/>
          <p:cNvSpPr/>
          <p:nvPr/>
        </p:nvSpPr>
        <p:spPr>
          <a:xfrm>
            <a:off x="609585" y="5039717"/>
            <a:ext cx="10972526" cy="12700"/>
          </a:xfrm>
          <a:prstGeom prst="rect">
            <a:avLst/>
          </a:prstGeom>
          <a:solidFill>
            <a:srgbClr val="17813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12433"/>
            <a:ext cx="670543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33443A"/>
                </a:solidFill>
                <a:latin typeface="Red Hat Mono Medium" pitchFamily="34" charset="0"/>
                <a:ea typeface="Red Hat Mono Medium" pitchFamily="34" charset="-122"/>
                <a:cs typeface="Red Hat Mono Medium" pitchFamily="34" charset="0"/>
              </a:rPr>
              <a:t>PRÓXIMA PARADA · AGENDA 2030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1526552"/>
            <a:ext cx="6095848" cy="915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400" spc="-41" kern="100" dirty="0">
                <a:solidFill>
                  <a:srgbClr val="12261A"/>
                </a:solidFill>
                <a:latin typeface="Hedvig Letters Serif" pitchFamily="34" charset="0"/>
                <a:ea typeface="Hedvig Letters Serif" pitchFamily="34" charset="-122"/>
                <a:cs typeface="Hedvig Letters Serif" pitchFamily="34" charset="0"/>
              </a:rPr>
              <a:t>De los factores ASG a los 17 ODS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677021"/>
            <a:ext cx="609585" cy="31651"/>
          </a:xfrm>
          <a:prstGeom prst="roundRect">
            <a:avLst>
              <a:gd name="adj" fmla="val 49998"/>
            </a:avLst>
          </a:prstGeom>
          <a:solidFill>
            <a:srgbClr val="17813A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183434"/>
            <a:ext cx="281932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ASG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3644444"/>
            <a:ext cx="304792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Evaluar el impacto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886103" y="3183434"/>
            <a:ext cx="259073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236B91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17 ODS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86103" y="3644444"/>
            <a:ext cx="281932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Objetivos globales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09585" y="4368939"/>
            <a:ext cx="6705432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700" dirty="0">
                <a:solidFill>
                  <a:srgbClr val="12261A"/>
                </a:solidFill>
                <a:latin typeface="Albert Sans" pitchFamily="34" charset="0"/>
                <a:ea typeface="Albert Sans" pitchFamily="34" charset="-122"/>
                <a:cs typeface="Albert Sans" pitchFamily="34" charset="0"/>
              </a:rPr>
              <a:t>Agenda 2030, aprobada por la ONU en 2015.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09585" y="5038824"/>
            <a:ext cx="609584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261A"/>
                </a:solidFill>
                <a:latin typeface="Albert Sans SemiBold" pitchFamily="34" charset="0"/>
                <a:ea typeface="Albert Sans SemiBold" pitchFamily="34" charset="-122"/>
                <a:cs typeface="Albert Sans SemiBold" pitchFamily="34" charset="0"/>
              </a:rPr>
              <a:t>Por qué importan y cómo aplicarlos al desarrollo web.</a:t>
            </a:r>
            <a:endParaRPr lang="en-US" sz="2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651159" y="2954834"/>
            <a:ext cx="12700" cy="1219795"/>
          </a:xfrm>
          <a:prstGeom prst="rect">
            <a:avLst/>
          </a:prstGeom>
          <a:solidFill>
            <a:srgbClr val="17813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2026-10-23T09:03:50Z</dcterms:created>
  <dcterms:modified xsi:type="dcterms:W3CDTF">2026-10-23T09:03:50Z</dcterms:modified>
</cp:coreProperties>
</file>
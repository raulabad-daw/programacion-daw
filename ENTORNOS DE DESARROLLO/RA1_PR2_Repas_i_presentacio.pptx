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media/image1.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nSpc>
                <a:spcPct val="90000"/>
              </a:lnSpc>
            </a:pPr>
            <a:r>
              <a:rPr b="0" lang="ca-ES" sz="4400" strike="noStrike" u="none">
                <a:solidFill>
                  <a:schemeClr val="dk1"/>
                </a:solidFill>
                <a:effectLst/>
                <a:uFillTx/>
                <a:latin typeface="Calibri Light"/>
              </a:rPr>
              <a:t>Pulse para desplazar la diapositiva</a:t>
            </a:r>
            <a:endParaRPr b="0" lang="ca-ES" sz="4400" strike="noStrike" u="none">
              <a:solidFill>
                <a:schemeClr val="dk1"/>
              </a:solidFill>
              <a:effectLst/>
              <a:uFillTx/>
              <a:latin typeface="Calibri Light"/>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ca-ES" sz="2000" strike="noStrike" u="none">
                <a:solidFill>
                  <a:srgbClr val="000000"/>
                </a:solidFill>
                <a:effectLst/>
                <a:uFillTx/>
                <a:latin typeface="Arial"/>
              </a:rPr>
              <a:t>Pulse para editar el formato de las notas</a:t>
            </a:r>
            <a:endParaRPr b="0" lang="ca-ES" sz="2000" strike="noStrike" u="non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ca-ES" sz="1400" strike="noStrike" u="none">
                <a:solidFill>
                  <a:srgbClr val="000000"/>
                </a:solidFill>
                <a:effectLst/>
                <a:uFillTx/>
                <a:latin typeface="Times New Roman"/>
              </a:rPr>
              <a:t> </a:t>
            </a:r>
            <a:endParaRPr b="0" lang="ca-ES" sz="1400" strike="noStrike" u="non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ca-ES" sz="1400" strike="noStrike" u="none">
                <a:solidFill>
                  <a:srgbClr val="000000"/>
                </a:solidFill>
                <a:effectLst/>
                <a:uFillTx/>
                <a:latin typeface="Times New Roman"/>
              </a:defRPr>
            </a:lvl1pPr>
          </a:lstStyle>
          <a:p>
            <a:pPr indent="0" algn="r">
              <a:buNone/>
            </a:pPr>
            <a:r>
              <a:rPr b="0" lang="ca-ES" sz="1400" strike="noStrike" u="none">
                <a:solidFill>
                  <a:srgbClr val="000000"/>
                </a:solidFill>
                <a:effectLst/>
                <a:uFillTx/>
                <a:latin typeface="Times New Roman"/>
              </a:rPr>
              <a:t> </a:t>
            </a:r>
            <a:endParaRPr b="0" lang="ca-ES" sz="1400" strike="noStrike" u="non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ca-ES" sz="1400" strike="noStrike" u="none">
                <a:solidFill>
                  <a:srgbClr val="000000"/>
                </a:solidFill>
                <a:effectLst/>
                <a:uFillTx/>
                <a:latin typeface="Times New Roman"/>
              </a:defRPr>
            </a:lvl1pPr>
          </a:lstStyle>
          <a:p>
            <a:pPr indent="0">
              <a:buNone/>
            </a:pPr>
            <a:r>
              <a:rPr b="0" lang="ca-ES" sz="1400" strike="noStrike" u="none">
                <a:solidFill>
                  <a:srgbClr val="000000"/>
                </a:solidFill>
                <a:effectLst/>
                <a:uFillTx/>
                <a:latin typeface="Times New Roman"/>
              </a:rPr>
              <a:t> </a:t>
            </a:r>
            <a:endParaRPr b="0" lang="ca-ES" sz="1400" strike="noStrike" u="non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ca-ES" sz="1400" strike="noStrike" u="none">
                <a:solidFill>
                  <a:srgbClr val="000000"/>
                </a:solidFill>
                <a:effectLst/>
                <a:uFillTx/>
                <a:latin typeface="Times New Roman"/>
              </a:defRPr>
            </a:lvl1pPr>
          </a:lstStyle>
          <a:p>
            <a:pPr indent="0" algn="r">
              <a:buNone/>
            </a:pPr>
            <a:fld id="{8C62E844-3802-4D07-896F-9140789B026B}" type="slidenum">
              <a:rPr b="0" lang="ca-ES" sz="1400" strike="noStrike" u="none">
                <a:solidFill>
                  <a:srgbClr val="000000"/>
                </a:solidFill>
                <a:effectLst/>
                <a:uFillTx/>
                <a:latin typeface="Times New Roman"/>
              </a:rPr>
              <a:t>1</a:t>
            </a:fld>
            <a:endParaRPr b="0" lang="ca-E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sldImg"/>
          </p:nvPr>
        </p:nvSpPr>
        <p:spPr>
          <a:xfrm>
            <a:off x="0" y="0"/>
            <a:ext cx="0" cy="0"/>
          </a:xfrm>
          <a:prstGeom prst="rect">
            <a:avLst/>
          </a:prstGeom>
          <a:ln w="0">
            <a:noFill/>
          </a:ln>
        </p:spPr>
      </p:sp>
      <p:sp>
        <p:nvSpPr>
          <p:cNvPr id="10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Guió docent. Part 1: repàs de les pàgines 47-89 d’A1 (diapositives 2-22). Part 2: presentació i claus de la PR2 (23-35). Es pot dedicar aproximadament 25-30 minuts al repàs i 10-15 minuts a presentar la pràctica; és una orientació docent, no un temps de treball afegit a l’enunciat. La pràctica indica dues hores i treball individual. Les preguntes tenen respostes a les notes, perquè es puguin comentar oralment. La solució completa de la cooperativa es lliura en un document separat.</a:t>
            </a: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47-89. RA1 - PR2 - Metodologies, rols i arquitectura.pdf, pàgines 1-3. Estil i logotip del material aportat pel professorat.</a:t>
            </a:r>
            <a:endParaRPr b="0" lang="ca-ES" sz="2000" strike="noStrike" u="none">
              <a:solidFill>
                <a:srgbClr val="000000"/>
              </a:solidFill>
              <a:effectLst/>
              <a:uFillTx/>
              <a:latin typeface="Arial"/>
            </a:endParaRPr>
          </a:p>
        </p:txBody>
      </p:sp>
      <p:sp>
        <p:nvSpPr>
          <p:cNvPr id="102"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ldImg"/>
          </p:nvPr>
        </p:nvSpPr>
        <p:spPr>
          <a:xfrm>
            <a:off x="0" y="0"/>
            <a:ext cx="0" cy="0"/>
          </a:xfrm>
          <a:prstGeom prst="rect">
            <a:avLst/>
          </a:prstGeom>
          <a:ln w="0">
            <a:noFill/>
          </a:ln>
        </p:spPr>
      </p:sp>
      <p:sp>
        <p:nvSpPr>
          <p:cNvPr id="10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Els rols no són rígids: una persona pot assumir més d’un paper i un paper pot ser compartit. Aquesta és una classificació professional, no la llista de responsabilitats de Scrum.</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47-54.</a:t>
            </a:r>
            <a:endParaRPr b="0" lang="ca-ES" sz="2000" strike="noStrike" u="none">
              <a:solidFill>
                <a:srgbClr val="000000"/>
              </a:solidFill>
              <a:effectLst/>
              <a:uFillTx/>
              <a:latin typeface="Arial"/>
            </a:endParaRPr>
          </a:p>
        </p:txBody>
      </p:sp>
      <p:sp>
        <p:nvSpPr>
          <p:cNvPr id="105"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sldImg"/>
          </p:nvPr>
        </p:nvSpPr>
        <p:spPr>
          <a:xfrm>
            <a:off x="0" y="0"/>
            <a:ext cx="0" cy="0"/>
          </a:xfrm>
          <a:prstGeom prst="rect">
            <a:avLst/>
          </a:prstGeom>
          <a:ln w="0">
            <a:noFill/>
          </a:ln>
        </p:spPr>
      </p:sp>
      <p:sp>
        <p:nvSpPr>
          <p:cNvPr id="10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Incloure la diferència júnior/sènior com a experiència i autonomia, no com a rols Scrum. L’analista programador combina visió funcional i tècnica. Les proves poden ser manuals o automatitzades.</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49-53.</a:t>
            </a:r>
            <a:endParaRPr b="0" lang="ca-ES" sz="2000" strike="noStrike" u="none">
              <a:solidFill>
                <a:srgbClr val="000000"/>
              </a:solidFill>
              <a:effectLst/>
              <a:uFillTx/>
              <a:latin typeface="Arial"/>
            </a:endParaRPr>
          </a:p>
        </p:txBody>
      </p:sp>
      <p:sp>
        <p:nvSpPr>
          <p:cNvPr id="108"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sldImg"/>
          </p:nvPr>
        </p:nvSpPr>
        <p:spPr>
          <a:xfrm>
            <a:off x="0" y="0"/>
            <a:ext cx="0" cy="0"/>
          </a:xfrm>
          <a:prstGeom prst="rect">
            <a:avLst/>
          </a:prstGeom>
          <a:ln w="0">
            <a:noFill/>
          </a:ln>
        </p:spPr>
      </p:sp>
      <p:sp>
        <p:nvSpPr>
          <p:cNvPr id="11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El contrast rellevant és el moment en què es rep feedback. Evitar presentar la cascada com sempre invàlida. Scrum facilita inspecció i adaptació, però no elimina la planificació ni la documentació.</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55-60.</a:t>
            </a:r>
            <a:endParaRPr b="0" lang="ca-ES" sz="2000" strike="noStrike" u="none">
              <a:solidFill>
                <a:srgbClr val="000000"/>
              </a:solidFill>
              <a:effectLst/>
              <a:uFillTx/>
              <a:latin typeface="Arial"/>
            </a:endParaRPr>
          </a:p>
        </p:txBody>
      </p:sp>
      <p:sp>
        <p:nvSpPr>
          <p:cNvPr id="111"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sldImg"/>
          </p:nvPr>
        </p:nvSpPr>
        <p:spPr>
          <a:xfrm>
            <a:off x="0" y="0"/>
            <a:ext cx="0" cy="0"/>
          </a:xfrm>
          <a:prstGeom prst="rect">
            <a:avLst/>
          </a:prstGeom>
          <a:ln w="0">
            <a:noFill/>
          </a:ln>
        </p:spPr>
      </p:sp>
      <p:sp>
        <p:nvSpPr>
          <p:cNvPr id="11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Els perfils professionals dels apunts i les responsabilitats Scrum són dues classificacions diferents. Scrum Team: Product Owner, Scrum Master i Developers. Un tester o un dissenyador pot formar part dels Developers. No identificar automàticament Team leader amb Scrum Master.</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59-61. https://scrumguides.org/scrum-guide.html</a:t>
            </a:r>
            <a:endParaRPr b="0" lang="ca-ES" sz="2000" strike="noStrike" u="none">
              <a:solidFill>
                <a:srgbClr val="000000"/>
              </a:solidFill>
              <a:effectLst/>
              <a:uFillTx/>
              <a:latin typeface="Arial"/>
            </a:endParaRPr>
          </a:p>
        </p:txBody>
      </p:sp>
      <p:sp>
        <p:nvSpPr>
          <p:cNvPr id="114"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ldImg"/>
          </p:nvPr>
        </p:nvSpPr>
        <p:spPr>
          <a:xfrm>
            <a:off x="0" y="0"/>
            <a:ext cx="0" cy="0"/>
          </a:xfrm>
          <a:prstGeom prst="rect">
            <a:avLst/>
          </a:prstGeom>
          <a:ln w="0">
            <a:noFill/>
          </a:ln>
        </p:spPr>
      </p:sp>
      <p:sp>
        <p:nvSpPr>
          <p:cNvPr id="11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L’exemple és diferent del de la PR2. Èpica: una àrea àmplia. User Story: un objectiu de valor per a l’usuari. Tasca: treball concret per completar la història. Les US són una tècnica habitual, no un format obligatori imposat per Scrum.</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61-65.</a:t>
            </a:r>
            <a:endParaRPr b="0" lang="ca-ES" sz="2000" strike="noStrike" u="none">
              <a:solidFill>
                <a:srgbClr val="000000"/>
              </a:solidFill>
              <a:effectLst/>
              <a:uFillTx/>
              <a:latin typeface="Arial"/>
            </a:endParaRPr>
          </a:p>
        </p:txBody>
      </p:sp>
      <p:sp>
        <p:nvSpPr>
          <p:cNvPr id="117"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0" y="0"/>
            <a:ext cx="0" cy="0"/>
          </a:xfrm>
          <a:prstGeom prst="rect">
            <a:avLst/>
          </a:prstGeom>
          <a:ln w="0">
            <a:noFill/>
          </a:ln>
        </p:spPr>
      </p:sp>
      <p:sp>
        <p:nvSpPr>
          <p:cNvPr id="11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Demanar que identifiquin persona, objectiu i benefici. «Crear una taula SQL» és una tasca tècnica; no n’hi ha prou amb afegir «Com a programador» si no es descriu una necessitat funcional adequada al cas. No penalitzar sinònims si es conserven els tres elements.</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63, 67-68.</a:t>
            </a:r>
            <a:endParaRPr b="0" lang="ca-ES" sz="2000" strike="noStrike" u="none">
              <a:solidFill>
                <a:srgbClr val="000000"/>
              </a:solidFill>
              <a:effectLst/>
              <a:uFillTx/>
              <a:latin typeface="Arial"/>
            </a:endParaRPr>
          </a:p>
        </p:txBody>
      </p:sp>
      <p:sp>
        <p:nvSpPr>
          <p:cNvPr id="120"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0" y="0"/>
            <a:ext cx="0" cy="0"/>
          </a:xfrm>
          <a:prstGeom prst="rect">
            <a:avLst/>
          </a:prstGeom>
          <a:ln w="0">
            <a:noFill/>
          </a:ln>
        </p:spPr>
      </p:sp>
      <p:sp>
        <p:nvSpPr>
          <p:cNvPr id="12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La història exemple és reservar un llibre. Resposta a la pregunta: comprovar disponibilitat, impedir duplicats si la regla ho exigeix, desar la reserva i mostrar confirmació. Les proves no són opcionals al final: formen part del treball per completar-la.</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64, 67-68.</a:t>
            </a:r>
            <a:endParaRPr b="0" lang="ca-ES" sz="2000" strike="noStrike" u="none">
              <a:solidFill>
                <a:srgbClr val="000000"/>
              </a:solidFill>
              <a:effectLst/>
              <a:uFillTx/>
              <a:latin typeface="Arial"/>
            </a:endParaRPr>
          </a:p>
        </p:txBody>
      </p:sp>
      <p:sp>
        <p:nvSpPr>
          <p:cNvPr id="123"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0" y="0"/>
            <a:ext cx="0" cy="0"/>
          </a:xfrm>
          <a:prstGeom prst="rect">
            <a:avLst/>
          </a:prstGeom>
          <a:ln w="0">
            <a:noFill/>
          </a:ln>
        </p:spPr>
      </p:sp>
      <p:sp>
        <p:nvSpPr>
          <p:cNvPr id="12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El Product Backlog és una llista ordenada que evoluciona. El Sprint Backlog inclou objectiu de sprint, elements seleccionats i pla de treball. Les columnes del full de classe ajuden a gestionar-lo però no constitueixen una plantilla obligatòria de Scrum.</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66, 74-75. https://scrumguides.org/scrum-guide.html</a:t>
            </a:r>
            <a:endParaRPr b="0" lang="ca-ES" sz="2000" strike="noStrike" u="none">
              <a:solidFill>
                <a:srgbClr val="000000"/>
              </a:solidFill>
              <a:effectLst/>
              <a:uFillTx/>
              <a:latin typeface="Arial"/>
            </a:endParaRPr>
          </a:p>
        </p:txBody>
      </p:sp>
      <p:sp>
        <p:nvSpPr>
          <p:cNvPr id="126"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0" y="0"/>
            <a:ext cx="0" cy="0"/>
          </a:xfrm>
          <a:prstGeom prst="rect">
            <a:avLst/>
          </a:prstGeom>
          <a:ln w="0">
            <a:noFill/>
          </a:ln>
        </p:spPr>
      </p:sp>
      <p:sp>
        <p:nvSpPr>
          <p:cNvPr id="12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Aclariment dels apunts: la Scrum Guide estableix sprints d’un mes o menys. La Planning respon per què és valuós el sprint, què es pot fer i com. La selecció es fa segons l’objectiu, la capacitat, el treball conegut i la qualitat requerida. No prometre totes les necessitats del producte en un únic sprint.</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69-70. https://scrumguides.org/scrum-guide.html</a:t>
            </a:r>
            <a:endParaRPr b="0" lang="ca-ES" sz="2000" strike="noStrike" u="none">
              <a:solidFill>
                <a:srgbClr val="000000"/>
              </a:solidFill>
              <a:effectLst/>
              <a:uFillTx/>
              <a:latin typeface="Arial"/>
            </a:endParaRPr>
          </a:p>
        </p:txBody>
      </p:sp>
      <p:sp>
        <p:nvSpPr>
          <p:cNvPr id="129"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0" y="0"/>
            <a:ext cx="0" cy="0"/>
          </a:xfrm>
          <a:prstGeom prst="rect">
            <a:avLst/>
          </a:prstGeom>
          <a:ln w="0">
            <a:noFill/>
          </a:ln>
        </p:spPr>
      </p:sp>
      <p:sp>
        <p:nvSpPr>
          <p:cNvPr id="13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Les columnes de l’activitat de classe són una adaptació del flux general dels apunts. Qui desenvolupa s’identifica a la targeta. Una altra persona fa el testing. Si fallen requisits, es documenten i la tasca torna a desenvolupament. No es mou a Done només perquè algú ja ha acabat d’escriure el codi.</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75-78. Exercici pràctica de Scrum.pdf, p. 1-4.</a:t>
            </a:r>
            <a:endParaRPr b="0" lang="ca-ES" sz="2000" strike="noStrike" u="none">
              <a:solidFill>
                <a:srgbClr val="000000"/>
              </a:solidFill>
              <a:effectLst/>
              <a:uFillTx/>
              <a:latin typeface="Arial"/>
            </a:endParaRPr>
          </a:p>
        </p:txBody>
      </p:sp>
      <p:sp>
        <p:nvSpPr>
          <p:cNvPr id="132"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ldImg"/>
          </p:nvPr>
        </p:nvSpPr>
        <p:spPr>
          <a:xfrm>
            <a:off x="0" y="0"/>
            <a:ext cx="0" cy="0"/>
          </a:xfrm>
          <a:prstGeom prst="rect">
            <a:avLst/>
          </a:prstGeom>
          <a:ln w="0">
            <a:noFill/>
          </a:ln>
        </p:spPr>
      </p:sp>
      <p:sp>
        <p:nvSpPr>
          <p:cNvPr id="13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Aclariment respecte dels apunts: Daily Scrum de 15 minuts per als Developers; el fet d’estar drets és opcional. Les preguntes de la diapositiva són una guia, no un qüestionari obligatori. No és un informe individual al cap. Els bloquejos es comuniquen quan apareixen, sense esperar la reunió.</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79. https://scrumguides.org/scrum-guide.html</a:t>
            </a:r>
            <a:endParaRPr b="0" lang="ca-ES" sz="2000" strike="noStrike" u="none">
              <a:solidFill>
                <a:srgbClr val="000000"/>
              </a:solidFill>
              <a:effectLst/>
              <a:uFillTx/>
              <a:latin typeface="Arial"/>
            </a:endParaRPr>
          </a:p>
        </p:txBody>
      </p:sp>
      <p:sp>
        <p:nvSpPr>
          <p:cNvPr id="135"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Img"/>
          </p:nvPr>
        </p:nvSpPr>
        <p:spPr>
          <a:xfrm>
            <a:off x="0" y="0"/>
            <a:ext cx="0" cy="0"/>
          </a:xfrm>
          <a:prstGeom prst="rect">
            <a:avLst/>
          </a:prstGeom>
          <a:ln w="0">
            <a:noFill/>
          </a:ln>
        </p:spPr>
      </p:sp>
      <p:sp>
        <p:nvSpPr>
          <p:cNvPr id="13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Distingir Review de Retrospective. La integració i les proves es fan durant el sprint. Els elements que no compleixen la Definition of Done no formen part de l’increment i es tornen a considerar al Product Backlog; no es comprometen automàticament per al següent sprint. L’activitat de la casa permet comentar exemples viscuts.</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80-81. https://scrumguides.org/scrum-guide.html</a:t>
            </a:r>
            <a:endParaRPr b="0" lang="ca-ES" sz="2000" strike="noStrike" u="none">
              <a:solidFill>
                <a:srgbClr val="000000"/>
              </a:solidFill>
              <a:effectLst/>
              <a:uFillTx/>
              <a:latin typeface="Arial"/>
            </a:endParaRPr>
          </a:p>
        </p:txBody>
      </p:sp>
      <p:sp>
        <p:nvSpPr>
          <p:cNvPr id="138"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0" y="0"/>
            <a:ext cx="0" cy="0"/>
          </a:xfrm>
          <a:prstGeom prst="rect">
            <a:avLst/>
          </a:prstGeom>
          <a:ln w="0">
            <a:noFill/>
          </a:ln>
        </p:spPr>
      </p:sp>
      <p:sp>
        <p:nvSpPr>
          <p:cNvPr id="14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L’arquitectura tracta l’estructura global, les parts i les dependències importants. Un patró és una solució reutilitzable a un problema recurrent de disseny, no codi que resol tot el programa. La PR2 se centra en MVC: aquí només cal situar els conceptes i les famílies de patrons.</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82-84.</a:t>
            </a:r>
            <a:endParaRPr b="0" lang="ca-ES" sz="2000" strike="noStrike" u="none">
              <a:solidFill>
                <a:srgbClr val="000000"/>
              </a:solidFill>
              <a:effectLst/>
              <a:uFillTx/>
              <a:latin typeface="Arial"/>
            </a:endParaRPr>
          </a:p>
        </p:txBody>
      </p:sp>
      <p:sp>
        <p:nvSpPr>
          <p:cNvPr id="141"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Img"/>
          </p:nvPr>
        </p:nvSpPr>
        <p:spPr>
          <a:xfrm>
            <a:off x="0" y="0"/>
            <a:ext cx="0" cy="0"/>
          </a:xfrm>
          <a:prstGeom prst="rect">
            <a:avLst/>
          </a:prstGeom>
          <a:ln w="0">
            <a:noFill/>
          </a:ln>
        </p:spPr>
      </p:sp>
      <p:sp>
        <p:nvSpPr>
          <p:cNvPr id="14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Aclarir l’errada tipogràfica de la pàgina 86: negoci es comunica amb presentació i dades. Es tracta de responsabilitats lògiques; no necessàriament de tres ordinadors. Exemple biblioteca: formulari de reserva / regles de préstec / lectura i escriptura de llibres i reserves.</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85-86. https://learn.microsoft.com/en-us/azure/architecture/guide/architecture-styles/n-tier</a:t>
            </a:r>
            <a:endParaRPr b="0" lang="ca-ES" sz="2000" strike="noStrike" u="none">
              <a:solidFill>
                <a:srgbClr val="000000"/>
              </a:solidFill>
              <a:effectLst/>
              <a:uFillTx/>
              <a:latin typeface="Arial"/>
            </a:endParaRPr>
          </a:p>
        </p:txBody>
      </p:sp>
      <p:sp>
        <p:nvSpPr>
          <p:cNvPr id="144"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ldImg"/>
          </p:nvPr>
        </p:nvSpPr>
        <p:spPr>
          <a:xfrm>
            <a:off x="0" y="0"/>
            <a:ext cx="0" cy="0"/>
          </a:xfrm>
          <a:prstGeom prst="rect">
            <a:avLst/>
          </a:prstGeom>
          <a:ln w="0">
            <a:noFill/>
          </a:ln>
        </p:spPr>
      </p:sp>
      <p:sp>
        <p:nvSpPr>
          <p:cNvPr id="14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MVC i arquitectura de tres capes són separacions diferents, i es poden combinar. No identificar automàticament Model = base de dades ni Controlador = tota la lògica de negoci. El model pot incloure estat, regles i accés a dades. El controlador rep entrades i coordina les operacions. Els detalls del flux varien entre implementacions.</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87-88. https://learn.microsoft.com/en-us/aspnet/core/mvc/overview?view=aspnetcore-10.0</a:t>
            </a:r>
            <a:endParaRPr b="0" lang="ca-ES" sz="2000" strike="noStrike" u="none">
              <a:solidFill>
                <a:srgbClr val="000000"/>
              </a:solidFill>
              <a:effectLst/>
              <a:uFillTx/>
              <a:latin typeface="Arial"/>
            </a:endParaRPr>
          </a:p>
        </p:txBody>
      </p:sp>
      <p:sp>
        <p:nvSpPr>
          <p:cNvPr id="147"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0" y="0"/>
            <a:ext cx="0" cy="0"/>
          </a:xfrm>
          <a:prstGeom prst="rect">
            <a:avLst/>
          </a:prstGeom>
          <a:ln w="0">
            <a:noFill/>
          </a:ln>
        </p:spPr>
      </p:sp>
      <p:sp>
        <p:nvSpPr>
          <p:cNvPr id="14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ca-ES" sz="2000" strike="noStrike" u="none">
                <a:solidFill>
                  <a:srgbClr val="000000"/>
                </a:solidFill>
                <a:effectLst/>
                <a:uFillTx/>
                <a:latin typeface="Arial"/>
              </a:rPr>
              <a:t>Fer seguir el recorregut d’una petició. Vista: botó i pantalla. Controlador: interpreta «reservar aquest llibre» i demana operació. Model: comprova disponibilitat i desa reserva si es compleixen regles. Vista: mostra confirmació o error. Resposta a la pregunta: la regla de límit de reserves pertany al model, encara que la vista pugui anticipar feedback.</a:t>
            </a:r>
            <a:endParaRPr b="0" lang="ca-ES" sz="2000" strike="noStrike" u="none">
              <a:solidFill>
                <a:srgbClr val="000000"/>
              </a:solidFill>
              <a:effectLst/>
              <a:uFillTx/>
              <a:latin typeface="Arial"/>
            </a:endParaRPr>
          </a:p>
          <a:p>
            <a:pPr indent="0">
              <a:lnSpc>
                <a:spcPct val="100000"/>
              </a:lnSpc>
              <a:buNone/>
            </a:pPr>
            <a:endParaRPr b="0" lang="ca-ES" sz="2000" strike="noStrike" u="none">
              <a:solidFill>
                <a:srgbClr val="000000"/>
              </a:solidFill>
              <a:effectLst/>
              <a:uFillTx/>
              <a:latin typeface="Arial"/>
            </a:endParaRPr>
          </a:p>
          <a:p>
            <a:pPr indent="0">
              <a:lnSpc>
                <a:spcPct val="100000"/>
              </a:lnSpc>
              <a:buNone/>
            </a:pPr>
            <a:r>
              <a:rPr b="0" lang="ca-ES" sz="2000" strike="noStrike" u="none">
                <a:solidFill>
                  <a:srgbClr val="000000"/>
                </a:solidFill>
                <a:effectLst/>
                <a:uFillTx/>
                <a:latin typeface="Arial"/>
              </a:rPr>
              <a:t>FONTS: RA1 - A1 - Desenvolupament de SW.pdf, pàgines 87-88. https://learn.microsoft.com/en-us/aspnet/core/mvc/overview?view=aspnetcore-10.0</a:t>
            </a:r>
            <a:endParaRPr b="0" lang="ca-ES" sz="2000" strike="noStrike" u="none">
              <a:solidFill>
                <a:srgbClr val="000000"/>
              </a:solidFill>
              <a:effectLst/>
              <a:uFillTx/>
              <a:latin typeface="Arial"/>
            </a:endParaRPr>
          </a:p>
        </p:txBody>
      </p:sp>
      <p:sp>
        <p:nvSpPr>
          <p:cNvPr id="150" name="PlaceHolder 3"/>
          <p:cNvSpPr>
            <a:spLocks noGrp="1"/>
          </p:cNvSpPr>
          <p:nvPr>
            <p:ph type="sldNum" idx="20"/>
          </p:nvPr>
        </p:nvSpPr>
        <p:spPr>
          <a:xfrm>
            <a:off x="0" y="0"/>
            <a:ext cx="0" cy="0"/>
          </a:xfrm>
          <a:prstGeom prst="rect">
            <a:avLst/>
          </a:prstGeom>
          <a:noFill/>
          <a:ln w="0">
            <a:noFill/>
          </a:ln>
        </p:spPr>
        <p:txBody>
          <a:bodyPr lIns="90000" rIns="90000" tIns="-45000" bIns="-45000" anchor="t">
            <a:noAutofit/>
          </a:bodyPr>
          <a:p>
            <a:pPr indent="0">
              <a:buNone/>
            </a:pPr>
            <a:endParaRPr b="0" lang="ca-ES" sz="18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spAutoFit/>
          </a:bodyPr>
          <a:p>
            <a:pPr indent="0">
              <a:lnSpc>
                <a:spcPct val="90000"/>
              </a:lnSpc>
              <a:buNone/>
            </a:pPr>
            <a:endParaRPr b="0" lang="ca-ES" sz="4400" strike="noStrike" u="none">
              <a:solidFill>
                <a:schemeClr val="dk1"/>
              </a:solidFill>
              <a:effectLst/>
              <a:uFillTx/>
              <a:latin typeface="Calibri Light"/>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spAutoFit/>
          </a:bodyPr>
          <a:p>
            <a:pPr indent="0" algn="ctr">
              <a:buNone/>
            </a:pPr>
            <a:endParaRPr b="0" lang="ca-ES" sz="32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nSpc>
                <a:spcPct val="90000"/>
              </a:lnSpc>
              <a:buNone/>
            </a:pPr>
            <a:r>
              <a:rPr b="0" lang="ca-ES" sz="4400" strike="noStrike" u="none">
                <a:solidFill>
                  <a:schemeClr val="dk1"/>
                </a:solidFill>
                <a:effectLst/>
                <a:uFillTx/>
                <a:latin typeface="Calibri Light"/>
              </a:rPr>
              <a:t>Pulse para editar el formato del texto de título</a:t>
            </a:r>
            <a:endParaRPr b="0" lang="ca-ES" sz="4400" strike="noStrike" u="none">
              <a:solidFill>
                <a:schemeClr val="dk1"/>
              </a:solidFill>
              <a:effectLst/>
              <a:uFillTx/>
              <a:latin typeface="Calibri Light"/>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ca-ES" sz="2800" strike="noStrike" u="none">
                <a:solidFill>
                  <a:schemeClr val="dk1"/>
                </a:solidFill>
                <a:effectLst/>
                <a:uFillTx/>
                <a:latin typeface="Calibri"/>
              </a:rPr>
              <a:t>Pulse para editar el formato de texto del esquema</a:t>
            </a:r>
            <a:endParaRPr b="0" lang="ca-ES" sz="2800" strike="noStrike" u="none">
              <a:solidFill>
                <a:schemeClr val="dk1"/>
              </a:solidFill>
              <a:effectLst/>
              <a:uFillTx/>
              <a:latin typeface="Calibri"/>
            </a:endParaRPr>
          </a:p>
          <a:p>
            <a:pPr lvl="1" marL="864000" indent="-324000">
              <a:lnSpc>
                <a:spcPct val="90000"/>
              </a:lnSpc>
              <a:spcBef>
                <a:spcPts val="1134"/>
              </a:spcBef>
              <a:buClr>
                <a:srgbClr val="000000"/>
              </a:buClr>
              <a:buSzPct val="75000"/>
              <a:buFont typeface="Symbol" charset="2"/>
              <a:buChar char=""/>
            </a:pPr>
            <a:r>
              <a:rPr b="0" lang="ca-ES" sz="2000" strike="noStrike" u="none">
                <a:solidFill>
                  <a:schemeClr val="dk1"/>
                </a:solidFill>
                <a:effectLst/>
                <a:uFillTx/>
                <a:latin typeface="Calibri"/>
              </a:rPr>
              <a:t>Segundo nivel del esquema</a:t>
            </a:r>
            <a:endParaRPr b="0" lang="ca-ES" sz="2000" strike="noStrike" u="none">
              <a:solidFill>
                <a:schemeClr val="dk1"/>
              </a:solidFill>
              <a:effectLst/>
              <a:uFillTx/>
              <a:latin typeface="Calibri"/>
            </a:endParaRPr>
          </a:p>
          <a:p>
            <a:pPr lvl="2" marL="1296000" indent="-288000">
              <a:lnSpc>
                <a:spcPct val="90000"/>
              </a:lnSpc>
              <a:spcBef>
                <a:spcPts val="850"/>
              </a:spcBef>
              <a:buClr>
                <a:srgbClr val="000000"/>
              </a:buClr>
              <a:buSzPct val="45000"/>
              <a:buFont typeface="Wingdings" charset="2"/>
              <a:buChar char=""/>
            </a:pPr>
            <a:r>
              <a:rPr b="0" lang="ca-ES" sz="1800" strike="noStrike" u="none">
                <a:solidFill>
                  <a:schemeClr val="dk1"/>
                </a:solidFill>
                <a:effectLst/>
                <a:uFillTx/>
                <a:latin typeface="Calibri"/>
              </a:rPr>
              <a:t>Tercer nivel del esquema</a:t>
            </a:r>
            <a:endParaRPr b="0" lang="ca-ES" sz="1800" strike="noStrike" u="none">
              <a:solidFill>
                <a:schemeClr val="dk1"/>
              </a:solidFill>
              <a:effectLst/>
              <a:uFillTx/>
              <a:latin typeface="Calibri"/>
            </a:endParaRPr>
          </a:p>
          <a:p>
            <a:pPr lvl="3" marL="1728000" indent="-216000">
              <a:lnSpc>
                <a:spcPct val="90000"/>
              </a:lnSpc>
              <a:spcBef>
                <a:spcPts val="567"/>
              </a:spcBef>
              <a:buClr>
                <a:srgbClr val="000000"/>
              </a:buClr>
              <a:buSzPct val="75000"/>
              <a:buFont typeface="Symbol" charset="2"/>
              <a:buChar char=""/>
            </a:pPr>
            <a:r>
              <a:rPr b="0" lang="ca-ES" sz="1800" strike="noStrike" u="none">
                <a:solidFill>
                  <a:schemeClr val="dk1"/>
                </a:solidFill>
                <a:effectLst/>
                <a:uFillTx/>
                <a:latin typeface="Calibri"/>
              </a:rPr>
              <a:t>Cuarto nivel del esquema</a:t>
            </a:r>
            <a:endParaRPr b="0" lang="ca-ES" sz="1800" strike="noStrike" u="none">
              <a:solidFill>
                <a:schemeClr val="dk1"/>
              </a:solidFill>
              <a:effectLst/>
              <a:uFillTx/>
              <a:latin typeface="Calibri"/>
            </a:endParaRPr>
          </a:p>
          <a:p>
            <a:pPr lvl="4" marL="2160000" indent="-216000">
              <a:lnSpc>
                <a:spcPct val="90000"/>
              </a:lnSpc>
              <a:spcBef>
                <a:spcPts val="283"/>
              </a:spcBef>
              <a:buClr>
                <a:srgbClr val="000000"/>
              </a:buClr>
              <a:buSzPct val="45000"/>
              <a:buFont typeface="Wingdings" charset="2"/>
              <a:buChar char=""/>
            </a:pPr>
            <a:r>
              <a:rPr b="0" lang="ca-ES" sz="2000" strike="noStrike" u="none">
                <a:solidFill>
                  <a:schemeClr val="dk1"/>
                </a:solidFill>
                <a:effectLst/>
                <a:uFillTx/>
                <a:latin typeface="Calibri"/>
              </a:rPr>
              <a:t>Quinto nivel del esquema</a:t>
            </a:r>
            <a:endParaRPr b="0" lang="ca-ES" sz="2000" strike="noStrike" u="none">
              <a:solidFill>
                <a:schemeClr val="dk1"/>
              </a:solidFill>
              <a:effectLst/>
              <a:uFillTx/>
              <a:latin typeface="Calibri"/>
            </a:endParaRPr>
          </a:p>
          <a:p>
            <a:pPr lvl="5" marL="2592000" indent="-216000">
              <a:lnSpc>
                <a:spcPct val="90000"/>
              </a:lnSpc>
              <a:spcBef>
                <a:spcPts val="283"/>
              </a:spcBef>
              <a:buClr>
                <a:srgbClr val="000000"/>
              </a:buClr>
              <a:buSzPct val="45000"/>
              <a:buFont typeface="Wingdings" charset="2"/>
              <a:buChar char=""/>
            </a:pPr>
            <a:r>
              <a:rPr b="0" lang="ca-ES" sz="2000" strike="noStrike" u="none">
                <a:solidFill>
                  <a:schemeClr val="dk1"/>
                </a:solidFill>
                <a:effectLst/>
                <a:uFillTx/>
                <a:latin typeface="Calibri"/>
              </a:rPr>
              <a:t>Sexto nivel del esquema</a:t>
            </a:r>
            <a:endParaRPr b="0" lang="ca-ES" sz="2000" strike="noStrike" u="none">
              <a:solidFill>
                <a:schemeClr val="dk1"/>
              </a:solidFill>
              <a:effectLst/>
              <a:uFillTx/>
              <a:latin typeface="Calibri"/>
            </a:endParaRPr>
          </a:p>
          <a:p>
            <a:pPr lvl="6" marL="3024000" indent="-216000">
              <a:lnSpc>
                <a:spcPct val="90000"/>
              </a:lnSpc>
              <a:spcBef>
                <a:spcPts val="283"/>
              </a:spcBef>
              <a:buClr>
                <a:srgbClr val="000000"/>
              </a:buClr>
              <a:buSzPct val="45000"/>
              <a:buFont typeface="Wingdings" charset="2"/>
              <a:buChar char=""/>
            </a:pPr>
            <a:r>
              <a:rPr b="0" lang="ca-ES" sz="2000" strike="noStrike" u="none">
                <a:solidFill>
                  <a:schemeClr val="dk1"/>
                </a:solidFill>
                <a:effectLst/>
                <a:uFillTx/>
                <a:latin typeface="Calibri"/>
              </a:rPr>
              <a:t>Séptimo nivel del esquema</a:t>
            </a:r>
            <a:endParaRPr b="0" lang="ca-ES" sz="2000" strike="noStrike" u="non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
          <p:cNvSpPr/>
          <p:nvPr/>
        </p:nvSpPr>
        <p:spPr>
          <a:xfrm>
            <a:off x="0" y="0"/>
            <a:ext cx="12191760" cy="48574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11" name=""/>
          <p:cNvSpPr/>
          <p:nvPr/>
        </p:nvSpPr>
        <p:spPr>
          <a:xfrm>
            <a:off x="523800" y="2543040"/>
            <a:ext cx="11143800" cy="885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4580" strike="noStrike" u="none">
                <a:solidFill>
                  <a:srgbClr val="ffffff"/>
                </a:solidFill>
                <a:effectLst/>
                <a:uFillTx/>
                <a:latin typeface="Calibri"/>
                <a:ea typeface="Calibri"/>
              </a:rPr>
              <a:t>Rols, Scrum i arquitectura</a:t>
            </a:r>
            <a:endParaRPr b="0" lang="ca-ES" sz="4580" strike="noStrike" u="none">
              <a:solidFill>
                <a:srgbClr val="000000"/>
              </a:solidFill>
              <a:effectLst/>
              <a:uFillTx/>
              <a:latin typeface="Arial"/>
            </a:endParaRPr>
          </a:p>
        </p:txBody>
      </p:sp>
      <p:sp>
        <p:nvSpPr>
          <p:cNvPr id="12" name=""/>
          <p:cNvSpPr/>
          <p:nvPr/>
        </p:nvSpPr>
        <p:spPr>
          <a:xfrm>
            <a:off x="552600" y="5353200"/>
            <a:ext cx="8286480" cy="904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2250" strike="noStrike" u="none">
                <a:solidFill>
                  <a:srgbClr val="101010"/>
                </a:solidFill>
                <a:effectLst/>
                <a:uFillTx/>
                <a:latin typeface="Calibri"/>
                <a:ea typeface="Calibri"/>
              </a:rPr>
              <a:t>M0487 · Entorns de desenvolupament</a:t>
            </a:r>
            <a:endParaRPr b="0" lang="ca-ES" sz="2250" strike="noStrike" u="none">
              <a:solidFill>
                <a:srgbClr val="000000"/>
              </a:solidFill>
              <a:effectLst/>
              <a:uFillTx/>
              <a:latin typeface="Arial"/>
            </a:endParaRPr>
          </a:p>
          <a:p>
            <a:pPr>
              <a:lnSpc>
                <a:spcPct val="100000"/>
              </a:lnSpc>
            </a:pPr>
            <a:r>
              <a:rPr b="0" lang="ca-ES" sz="2250" strike="noStrike" u="none">
                <a:solidFill>
                  <a:srgbClr val="101010"/>
                </a:solidFill>
                <a:effectLst/>
                <a:uFillTx/>
                <a:latin typeface="Calibri"/>
                <a:ea typeface="Calibri"/>
              </a:rPr>
              <a:t>RA1 · Desenvolupament de software</a:t>
            </a:r>
            <a:endParaRPr b="0" lang="ca-ES" sz="2250" strike="noStrike" u="none">
              <a:solidFill>
                <a:srgbClr val="000000"/>
              </a:solidFill>
              <a:effectLst/>
              <a:uFillTx/>
              <a:latin typeface="Arial"/>
            </a:endParaRPr>
          </a:p>
        </p:txBody>
      </p:sp>
      <p:pic>
        <p:nvPicPr>
          <p:cNvPr id="13" name="" descr=""/>
          <p:cNvPicPr/>
          <p:nvPr/>
        </p:nvPicPr>
        <p:blipFill>
          <a:blip r:embed="rId1"/>
          <a:stretch/>
        </p:blipFill>
        <p:spPr>
          <a:xfrm>
            <a:off x="10110240" y="5133960"/>
            <a:ext cx="1495800" cy="150444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15"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Rols: entendre i coordinar</a:t>
            </a:r>
            <a:endParaRPr b="0" lang="ca-ES" sz="3300" strike="noStrike" u="none">
              <a:solidFill>
                <a:srgbClr val="000000"/>
              </a:solidFill>
              <a:effectLst/>
              <a:uFillTx/>
              <a:latin typeface="Arial"/>
            </a:endParaRPr>
          </a:p>
        </p:txBody>
      </p:sp>
      <p:sp>
        <p:nvSpPr>
          <p:cNvPr id="16"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3</a:t>
            </a:r>
            <a:endParaRPr b="0" lang="ca-ES" sz="1200" strike="noStrike" u="none">
              <a:solidFill>
                <a:srgbClr val="000000"/>
              </a:solidFill>
              <a:effectLst/>
              <a:uFillTx/>
              <a:latin typeface="Arial"/>
            </a:endParaRPr>
          </a:p>
        </p:txBody>
      </p:sp>
      <p:graphicFrame>
        <p:nvGraphicFramePr>
          <p:cNvPr id="17" name=""/>
          <p:cNvGraphicFramePr/>
          <p:nvPr/>
        </p:nvGraphicFramePr>
        <p:xfrm>
          <a:off x="685800" y="1952640"/>
          <a:ext cx="10820160" cy="3314520"/>
        </p:xfrm>
        <a:graphic>
          <a:graphicData uri="http://schemas.openxmlformats.org/drawingml/2006/table">
            <a:tbl>
              <a:tblPr/>
              <a:tblGrid>
                <a:gridCol w="3476520"/>
                <a:gridCol w="7343640"/>
              </a:tblGrid>
              <a:tr h="662760">
                <a:tc>
                  <a:txBody>
                    <a:bodyPr anchor="t">
                      <a:noAutofit/>
                    </a:bodyPr>
                    <a:p>
                      <a:pPr>
                        <a:lnSpc>
                          <a:spcPct val="100000"/>
                        </a:lnSpc>
                      </a:pPr>
                      <a:r>
                        <a:rPr b="1" lang="ca-ES" sz="2170" strike="noStrike" u="none">
                          <a:solidFill>
                            <a:srgbClr val="39639d"/>
                          </a:solidFill>
                          <a:effectLst/>
                          <a:uFillTx/>
                          <a:latin typeface="Calibri"/>
                          <a:ea typeface="Calibri"/>
                        </a:rPr>
                        <a:t>Rol</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c>
                  <a:txBody>
                    <a:bodyPr anchor="t">
                      <a:noAutofit/>
                    </a:bodyPr>
                    <a:p>
                      <a:pPr>
                        <a:lnSpc>
                          <a:spcPct val="100000"/>
                        </a:lnSpc>
                      </a:pPr>
                      <a:r>
                        <a:rPr b="1" lang="ca-ES" sz="2170" strike="noStrike" u="none">
                          <a:solidFill>
                            <a:srgbClr val="39639d"/>
                          </a:solidFill>
                          <a:effectLst/>
                          <a:uFillTx/>
                          <a:latin typeface="Calibri"/>
                          <a:ea typeface="Calibri"/>
                        </a:rPr>
                        <a:t>Aportació principal</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r>
              <a:tr h="662760">
                <a:tc>
                  <a:txBody>
                    <a:bodyPr anchor="t">
                      <a:noAutofit/>
                    </a:bodyPr>
                    <a:p>
                      <a:pPr>
                        <a:lnSpc>
                          <a:spcPct val="100000"/>
                        </a:lnSpc>
                      </a:pPr>
                      <a:r>
                        <a:rPr b="0" lang="ca-ES" sz="2170" strike="noStrike" u="none">
                          <a:solidFill>
                            <a:srgbClr val="101010"/>
                          </a:solidFill>
                          <a:effectLst/>
                          <a:uFillTx/>
                          <a:latin typeface="Calibri"/>
                          <a:ea typeface="Calibri"/>
                        </a:rPr>
                        <a:t>Analista</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70" strike="noStrike" u="none">
                          <a:solidFill>
                            <a:srgbClr val="101010"/>
                          </a:solidFill>
                          <a:effectLst/>
                          <a:uFillTx/>
                          <a:latin typeface="Calibri"/>
                          <a:ea typeface="Calibri"/>
                        </a:rPr>
                        <a:t>Entén les necessitats del client i documenta processos.</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62760">
                <a:tc>
                  <a:txBody>
                    <a:bodyPr anchor="t">
                      <a:noAutofit/>
                    </a:bodyPr>
                    <a:p>
                      <a:pPr>
                        <a:lnSpc>
                          <a:spcPct val="100000"/>
                        </a:lnSpc>
                      </a:pPr>
                      <a:r>
                        <a:rPr b="0" lang="ca-ES" sz="2170" strike="noStrike" u="none">
                          <a:solidFill>
                            <a:srgbClr val="101010"/>
                          </a:solidFill>
                          <a:effectLst/>
                          <a:uFillTx/>
                          <a:latin typeface="Calibri"/>
                          <a:ea typeface="Calibri"/>
                        </a:rPr>
                        <a:t>Analista de sistemes</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70" strike="noStrike" u="none">
                          <a:solidFill>
                            <a:srgbClr val="101010"/>
                          </a:solidFill>
                          <a:effectLst/>
                          <a:uFillTx/>
                          <a:latin typeface="Calibri"/>
                          <a:ea typeface="Calibri"/>
                        </a:rPr>
                        <a:t>Estudia el sistema i concreta els requeriments.</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62760">
                <a:tc>
                  <a:txBody>
                    <a:bodyPr anchor="t">
                      <a:noAutofit/>
                    </a:bodyPr>
                    <a:p>
                      <a:pPr>
                        <a:lnSpc>
                          <a:spcPct val="100000"/>
                        </a:lnSpc>
                      </a:pPr>
                      <a:r>
                        <a:rPr b="0" lang="ca-ES" sz="2170" strike="noStrike" u="none">
                          <a:solidFill>
                            <a:srgbClr val="101010"/>
                          </a:solidFill>
                          <a:effectLst/>
                          <a:uFillTx/>
                          <a:latin typeface="Calibri"/>
                          <a:ea typeface="Calibri"/>
                        </a:rPr>
                        <a:t>Team leader</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70" strike="noStrike" u="none">
                          <a:solidFill>
                            <a:srgbClr val="101010"/>
                          </a:solidFill>
                          <a:effectLst/>
                          <a:uFillTx/>
                          <a:latin typeface="Calibri"/>
                          <a:ea typeface="Calibri"/>
                        </a:rPr>
                        <a:t>Dona suport tècnic i coordina la feina de l’equip.</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62760">
                <a:tc>
                  <a:txBody>
                    <a:bodyPr anchor="t">
                      <a:noAutofit/>
                    </a:bodyPr>
                    <a:p>
                      <a:pPr>
                        <a:lnSpc>
                          <a:spcPct val="100000"/>
                        </a:lnSpc>
                      </a:pPr>
                      <a:r>
                        <a:rPr b="0" lang="ca-ES" sz="2170" strike="noStrike" u="none">
                          <a:solidFill>
                            <a:srgbClr val="101010"/>
                          </a:solidFill>
                          <a:effectLst/>
                          <a:uFillTx/>
                          <a:latin typeface="Calibri"/>
                          <a:ea typeface="Calibri"/>
                        </a:rPr>
                        <a:t>Cap de departament</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70" strike="noStrike" u="none">
                          <a:solidFill>
                            <a:srgbClr val="101010"/>
                          </a:solidFill>
                          <a:effectLst/>
                          <a:uFillTx/>
                          <a:latin typeface="Calibri"/>
                          <a:ea typeface="Calibri"/>
                        </a:rPr>
                        <a:t>Coordina projectes, equips i recursos de l’àrea.</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18"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Una persona pot exercir diversos rols.</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20"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Rols: construir i comprovar</a:t>
            </a:r>
            <a:endParaRPr b="0" lang="ca-ES" sz="3300" strike="noStrike" u="none">
              <a:solidFill>
                <a:srgbClr val="000000"/>
              </a:solidFill>
              <a:effectLst/>
              <a:uFillTx/>
              <a:latin typeface="Arial"/>
            </a:endParaRPr>
          </a:p>
        </p:txBody>
      </p:sp>
      <p:sp>
        <p:nvSpPr>
          <p:cNvPr id="21"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4</a:t>
            </a:r>
            <a:endParaRPr b="0" lang="ca-ES" sz="1200" strike="noStrike" u="none">
              <a:solidFill>
                <a:srgbClr val="000000"/>
              </a:solidFill>
              <a:effectLst/>
              <a:uFillTx/>
              <a:latin typeface="Arial"/>
            </a:endParaRPr>
          </a:p>
        </p:txBody>
      </p:sp>
      <p:graphicFrame>
        <p:nvGraphicFramePr>
          <p:cNvPr id="22" name=""/>
          <p:cNvGraphicFramePr/>
          <p:nvPr/>
        </p:nvGraphicFramePr>
        <p:xfrm>
          <a:off x="685800" y="1762200"/>
          <a:ext cx="10820160" cy="3895200"/>
        </p:xfrm>
        <a:graphic>
          <a:graphicData uri="http://schemas.openxmlformats.org/drawingml/2006/table">
            <a:tbl>
              <a:tblPr/>
              <a:tblGrid>
                <a:gridCol w="3476520"/>
                <a:gridCol w="7343640"/>
              </a:tblGrid>
              <a:tr h="649080">
                <a:tc>
                  <a:txBody>
                    <a:bodyPr anchor="t">
                      <a:noAutofit/>
                    </a:bodyPr>
                    <a:p>
                      <a:pPr>
                        <a:lnSpc>
                          <a:spcPct val="100000"/>
                        </a:lnSpc>
                      </a:pPr>
                      <a:r>
                        <a:rPr b="1" lang="ca-ES" sz="2100" strike="noStrike" u="none">
                          <a:solidFill>
                            <a:srgbClr val="39639d"/>
                          </a:solidFill>
                          <a:effectLst/>
                          <a:uFillTx/>
                          <a:latin typeface="Calibri"/>
                          <a:ea typeface="Calibri"/>
                        </a:rPr>
                        <a:t>Rol</a:t>
                      </a:r>
                      <a:endParaRPr b="0" lang="ca-ES" sz="21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c>
                  <a:txBody>
                    <a:bodyPr anchor="t">
                      <a:noAutofit/>
                    </a:bodyPr>
                    <a:p>
                      <a:pPr>
                        <a:lnSpc>
                          <a:spcPct val="100000"/>
                        </a:lnSpc>
                      </a:pPr>
                      <a:r>
                        <a:rPr b="1" lang="ca-ES" sz="2100" strike="noStrike" u="none">
                          <a:solidFill>
                            <a:srgbClr val="39639d"/>
                          </a:solidFill>
                          <a:effectLst/>
                          <a:uFillTx/>
                          <a:latin typeface="Calibri"/>
                          <a:ea typeface="Calibri"/>
                        </a:rPr>
                        <a:t>Aportació principal</a:t>
                      </a:r>
                      <a:endParaRPr b="0" lang="ca-ES" sz="21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r>
              <a:tr h="649080">
                <a:tc>
                  <a:txBody>
                    <a:bodyPr anchor="t">
                      <a:noAutofit/>
                    </a:bodyPr>
                    <a:p>
                      <a:pPr>
                        <a:lnSpc>
                          <a:spcPct val="100000"/>
                        </a:lnSpc>
                      </a:pPr>
                      <a:r>
                        <a:rPr b="0" lang="ca-ES" sz="2100" strike="noStrike" u="none">
                          <a:solidFill>
                            <a:srgbClr val="101010"/>
                          </a:solidFill>
                          <a:effectLst/>
                          <a:uFillTx/>
                          <a:latin typeface="Calibri"/>
                          <a:ea typeface="Calibri"/>
                        </a:rPr>
                        <a:t>Programador/a</a:t>
                      </a:r>
                      <a:endParaRPr b="0" lang="ca-ES" sz="21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00" strike="noStrike" u="none">
                          <a:solidFill>
                            <a:srgbClr val="101010"/>
                          </a:solidFill>
                          <a:effectLst/>
                          <a:uFillTx/>
                          <a:latin typeface="Calibri"/>
                          <a:ea typeface="Calibri"/>
                        </a:rPr>
                        <a:t>Implementa funcionalitats i corregeix errors.</a:t>
                      </a:r>
                      <a:endParaRPr b="0" lang="ca-ES" sz="21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49080">
                <a:tc>
                  <a:txBody>
                    <a:bodyPr anchor="t">
                      <a:noAutofit/>
                    </a:bodyPr>
                    <a:p>
                      <a:pPr>
                        <a:lnSpc>
                          <a:spcPct val="100000"/>
                        </a:lnSpc>
                      </a:pPr>
                      <a:r>
                        <a:rPr b="0" lang="ca-ES" sz="2100" strike="noStrike" u="none">
                          <a:solidFill>
                            <a:srgbClr val="101010"/>
                          </a:solidFill>
                          <a:effectLst/>
                          <a:uFillTx/>
                          <a:latin typeface="Calibri"/>
                          <a:ea typeface="Calibri"/>
                        </a:rPr>
                        <a:t>Analista programador/a</a:t>
                      </a:r>
                      <a:endParaRPr b="0" lang="ca-ES" sz="21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00" strike="noStrike" u="none">
                          <a:solidFill>
                            <a:srgbClr val="101010"/>
                          </a:solidFill>
                          <a:effectLst/>
                          <a:uFillTx/>
                          <a:latin typeface="Calibri"/>
                          <a:ea typeface="Calibri"/>
                        </a:rPr>
                        <a:t>Connecta anàlisi, disseny i implementació.</a:t>
                      </a:r>
                      <a:endParaRPr b="0" lang="ca-ES" sz="21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49080">
                <a:tc>
                  <a:txBody>
                    <a:bodyPr anchor="t">
                      <a:noAutofit/>
                    </a:bodyPr>
                    <a:p>
                      <a:pPr>
                        <a:lnSpc>
                          <a:spcPct val="100000"/>
                        </a:lnSpc>
                      </a:pPr>
                      <a:r>
                        <a:rPr b="0" lang="ca-ES" sz="2100" strike="noStrike" u="none">
                          <a:solidFill>
                            <a:srgbClr val="101010"/>
                          </a:solidFill>
                          <a:effectLst/>
                          <a:uFillTx/>
                          <a:latin typeface="Calibri"/>
                          <a:ea typeface="Calibri"/>
                        </a:rPr>
                        <a:t>Arquitecte/a de software</a:t>
                      </a:r>
                      <a:endParaRPr b="0" lang="ca-ES" sz="21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00" strike="noStrike" u="none">
                          <a:solidFill>
                            <a:srgbClr val="101010"/>
                          </a:solidFill>
                          <a:effectLst/>
                          <a:uFillTx/>
                          <a:latin typeface="Calibri"/>
                          <a:ea typeface="Calibri"/>
                        </a:rPr>
                        <a:t>Defineix l’estructura i les decisions tècniques principals.</a:t>
                      </a:r>
                      <a:endParaRPr b="0" lang="ca-ES" sz="21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49080">
                <a:tc>
                  <a:txBody>
                    <a:bodyPr anchor="t">
                      <a:noAutofit/>
                    </a:bodyPr>
                    <a:p>
                      <a:pPr>
                        <a:lnSpc>
                          <a:spcPct val="100000"/>
                        </a:lnSpc>
                      </a:pPr>
                      <a:r>
                        <a:rPr b="0" lang="ca-ES" sz="2100" strike="noStrike" u="none">
                          <a:solidFill>
                            <a:srgbClr val="101010"/>
                          </a:solidFill>
                          <a:effectLst/>
                          <a:uFillTx/>
                          <a:latin typeface="Calibri"/>
                          <a:ea typeface="Calibri"/>
                        </a:rPr>
                        <a:t>Dissenyador/a UI/UX</a:t>
                      </a:r>
                      <a:endParaRPr b="0" lang="ca-ES" sz="21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00" strike="noStrike" u="none">
                          <a:solidFill>
                            <a:srgbClr val="101010"/>
                          </a:solidFill>
                          <a:effectLst/>
                          <a:uFillTx/>
                          <a:latin typeface="Calibri"/>
                          <a:ea typeface="Calibri"/>
                        </a:rPr>
                        <a:t>Dissenya les interfícies i la seva usabilitat.</a:t>
                      </a:r>
                      <a:endParaRPr b="0" lang="ca-ES" sz="21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49080">
                <a:tc>
                  <a:txBody>
                    <a:bodyPr anchor="t">
                      <a:noAutofit/>
                    </a:bodyPr>
                    <a:p>
                      <a:pPr>
                        <a:lnSpc>
                          <a:spcPct val="100000"/>
                        </a:lnSpc>
                      </a:pPr>
                      <a:r>
                        <a:rPr b="0" lang="ca-ES" sz="2100" strike="noStrike" u="none">
                          <a:solidFill>
                            <a:srgbClr val="101010"/>
                          </a:solidFill>
                          <a:effectLst/>
                          <a:uFillTx/>
                          <a:latin typeface="Calibri"/>
                          <a:ea typeface="Calibri"/>
                        </a:rPr>
                        <a:t>Tester</a:t>
                      </a:r>
                      <a:endParaRPr b="0" lang="ca-ES" sz="21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00" strike="noStrike" u="none">
                          <a:solidFill>
                            <a:srgbClr val="101010"/>
                          </a:solidFill>
                          <a:effectLst/>
                          <a:uFillTx/>
                          <a:latin typeface="Calibri"/>
                          <a:ea typeface="Calibri"/>
                        </a:rPr>
                        <a:t>Comprova requisits i detecta errors amb proves.</a:t>
                      </a:r>
                      <a:endParaRPr b="0" lang="ca-ES" sz="21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23" name=""/>
          <p:cNvSpPr/>
          <p:nvPr/>
        </p:nvSpPr>
        <p:spPr>
          <a:xfrm>
            <a:off x="704880" y="606744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020" strike="noStrike" u="none">
                <a:solidFill>
                  <a:srgbClr val="39639d"/>
                </a:solidFill>
                <a:effectLst/>
                <a:uFillTx/>
                <a:latin typeface="Calibri"/>
                <a:ea typeface="Calibri"/>
              </a:rPr>
              <a:t>Els rols col·laboren durant tot el desenvolupament.</a:t>
            </a:r>
            <a:endParaRPr b="0" lang="ca-ES" sz="202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25"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Per què treballem de manera àgil?</a:t>
            </a:r>
            <a:endParaRPr b="0" lang="ca-ES" sz="3300" strike="noStrike" u="none">
              <a:solidFill>
                <a:srgbClr val="000000"/>
              </a:solidFill>
              <a:effectLst/>
              <a:uFillTx/>
              <a:latin typeface="Arial"/>
            </a:endParaRPr>
          </a:p>
        </p:txBody>
      </p:sp>
      <p:sp>
        <p:nvSpPr>
          <p:cNvPr id="26"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6</a:t>
            </a:r>
            <a:endParaRPr b="0" lang="ca-ES" sz="1200" strike="noStrike" u="none">
              <a:solidFill>
                <a:srgbClr val="000000"/>
              </a:solidFill>
              <a:effectLst/>
              <a:uFillTx/>
              <a:latin typeface="Arial"/>
            </a:endParaRPr>
          </a:p>
        </p:txBody>
      </p:sp>
      <p:sp>
        <p:nvSpPr>
          <p:cNvPr id="27" name=""/>
          <p:cNvSpPr/>
          <p:nvPr/>
        </p:nvSpPr>
        <p:spPr>
          <a:xfrm>
            <a:off x="743040" y="1933560"/>
            <a:ext cx="10667520" cy="3285720"/>
          </a:xfrm>
          <a:prstGeom prst="rect">
            <a:avLst/>
          </a:prstGeom>
          <a:noFill/>
          <a:ln w="0">
            <a:noFill/>
          </a:ln>
        </p:spPr>
        <p:style>
          <a:lnRef idx="0"/>
          <a:fillRef idx="0"/>
          <a:effectRef idx="0"/>
          <a:fontRef idx="minor"/>
        </p:style>
        <p:txBody>
          <a:bodyPr lIns="0" rIns="0" tIns="0" bIns="0" anchor="t">
            <a:noAutofit/>
          </a:bodyPr>
          <a:p>
            <a:pPr marL="241200" indent="-139680">
              <a:lnSpc>
                <a:spcPct val="100000"/>
              </a:lnSpc>
              <a:spcAft>
                <a:spcPts val="1500"/>
              </a:spcAft>
              <a:buClr>
                <a:srgbClr val="101010"/>
              </a:buClr>
              <a:buFont typeface="Symbol" charset="2"/>
              <a:buChar char=""/>
            </a:pPr>
            <a:r>
              <a:rPr b="0" lang="ca-ES" sz="2400" strike="noStrike" u="none">
                <a:solidFill>
                  <a:srgbClr val="101010"/>
                </a:solidFill>
                <a:effectLst/>
                <a:uFillTx/>
                <a:latin typeface="Calibri"/>
                <a:ea typeface="Calibri"/>
              </a:rPr>
              <a:t>Dividim el treball en increments que es poden revisar.</a:t>
            </a:r>
            <a:endParaRPr b="0" lang="ca-ES" sz="2400" strike="noStrike" u="none">
              <a:solidFill>
                <a:srgbClr val="000000"/>
              </a:solidFill>
              <a:effectLst/>
              <a:uFillTx/>
              <a:latin typeface="Arial"/>
            </a:endParaRPr>
          </a:p>
          <a:p>
            <a:pPr marL="241200" indent="-139680">
              <a:lnSpc>
                <a:spcPct val="100000"/>
              </a:lnSpc>
              <a:spcAft>
                <a:spcPts val="1500"/>
              </a:spcAft>
              <a:buClr>
                <a:srgbClr val="101010"/>
              </a:buClr>
              <a:buFont typeface="Symbol" charset="2"/>
              <a:buChar char=""/>
            </a:pPr>
            <a:r>
              <a:rPr b="0" lang="ca-ES" sz="2400" strike="noStrike" u="none">
                <a:solidFill>
                  <a:srgbClr val="101010"/>
                </a:solidFill>
                <a:effectLst/>
                <a:uFillTx/>
                <a:latin typeface="Calibri"/>
                <a:ea typeface="Calibri"/>
              </a:rPr>
              <a:t>Obtenim feedback abans d’haver construït tot el producte.</a:t>
            </a:r>
            <a:endParaRPr b="0" lang="ca-ES" sz="2400" strike="noStrike" u="none">
              <a:solidFill>
                <a:srgbClr val="000000"/>
              </a:solidFill>
              <a:effectLst/>
              <a:uFillTx/>
              <a:latin typeface="Arial"/>
            </a:endParaRPr>
          </a:p>
          <a:p>
            <a:pPr marL="241200" indent="-139680">
              <a:lnSpc>
                <a:spcPct val="100000"/>
              </a:lnSpc>
              <a:spcAft>
                <a:spcPts val="1500"/>
              </a:spcAft>
              <a:buClr>
                <a:srgbClr val="101010"/>
              </a:buClr>
              <a:buFont typeface="Symbol" charset="2"/>
              <a:buChar char=""/>
            </a:pPr>
            <a:r>
              <a:rPr b="0" lang="ca-ES" sz="2400" strike="noStrike" u="none">
                <a:solidFill>
                  <a:srgbClr val="101010"/>
                </a:solidFill>
                <a:effectLst/>
                <a:uFillTx/>
                <a:latin typeface="Calibri"/>
                <a:ea typeface="Calibri"/>
              </a:rPr>
              <a:t>Podem ajustar prioritats quan aprenem o canvien les necessitats.</a:t>
            </a:r>
            <a:endParaRPr b="0" lang="ca-ES" sz="2400" strike="noStrike" u="none">
              <a:solidFill>
                <a:srgbClr val="000000"/>
              </a:solidFill>
              <a:effectLst/>
              <a:uFillTx/>
              <a:latin typeface="Arial"/>
            </a:endParaRPr>
          </a:p>
          <a:p>
            <a:pPr marL="241200" indent="-139680">
              <a:lnSpc>
                <a:spcPct val="100000"/>
              </a:lnSpc>
              <a:spcAft>
                <a:spcPts val="1500"/>
              </a:spcAft>
              <a:buClr>
                <a:srgbClr val="101010"/>
              </a:buClr>
              <a:buFont typeface="Symbol" charset="2"/>
              <a:buChar char=""/>
            </a:pPr>
            <a:r>
              <a:rPr b="0" lang="ca-ES" sz="2400" strike="noStrike" u="none">
                <a:solidFill>
                  <a:srgbClr val="101010"/>
                </a:solidFill>
                <a:effectLst/>
                <a:uFillTx/>
                <a:latin typeface="Calibri"/>
                <a:ea typeface="Calibri"/>
              </a:rPr>
              <a:t>Detectem abans els malentesos i els problemes.</a:t>
            </a:r>
            <a:endParaRPr b="0" lang="ca-ES" sz="2400" strike="noStrike" u="none">
              <a:solidFill>
                <a:srgbClr val="000000"/>
              </a:solidFill>
              <a:effectLst/>
              <a:uFillTx/>
              <a:latin typeface="Arial"/>
            </a:endParaRPr>
          </a:p>
        </p:txBody>
      </p:sp>
      <p:sp>
        <p:nvSpPr>
          <p:cNvPr id="28"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Què pot passar si el client només veu el producte al final?</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30"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Les responsabilitats dins de Scrum</a:t>
            </a:r>
            <a:endParaRPr b="0" lang="ca-ES" sz="3300" strike="noStrike" u="none">
              <a:solidFill>
                <a:srgbClr val="000000"/>
              </a:solidFill>
              <a:effectLst/>
              <a:uFillTx/>
              <a:latin typeface="Arial"/>
            </a:endParaRPr>
          </a:p>
        </p:txBody>
      </p:sp>
      <p:sp>
        <p:nvSpPr>
          <p:cNvPr id="31"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7</a:t>
            </a:r>
            <a:endParaRPr b="0" lang="ca-ES" sz="1200" strike="noStrike" u="none">
              <a:solidFill>
                <a:srgbClr val="000000"/>
              </a:solidFill>
              <a:effectLst/>
              <a:uFillTx/>
              <a:latin typeface="Arial"/>
            </a:endParaRPr>
          </a:p>
        </p:txBody>
      </p:sp>
      <p:graphicFrame>
        <p:nvGraphicFramePr>
          <p:cNvPr id="32" name=""/>
          <p:cNvGraphicFramePr/>
          <p:nvPr/>
        </p:nvGraphicFramePr>
        <p:xfrm>
          <a:off x="685800" y="1952640"/>
          <a:ext cx="10820160" cy="2952360"/>
        </p:xfrm>
        <a:graphic>
          <a:graphicData uri="http://schemas.openxmlformats.org/drawingml/2006/table">
            <a:tbl>
              <a:tblPr/>
              <a:tblGrid>
                <a:gridCol w="3381120"/>
                <a:gridCol w="7438680"/>
              </a:tblGrid>
              <a:tr h="738000">
                <a:tc>
                  <a:txBody>
                    <a:bodyPr anchor="t">
                      <a:noAutofit/>
                    </a:bodyPr>
                    <a:p>
                      <a:pPr>
                        <a:lnSpc>
                          <a:spcPct val="100000"/>
                        </a:lnSpc>
                      </a:pPr>
                      <a:r>
                        <a:rPr b="1" lang="ca-ES" sz="2250" strike="noStrike" u="none">
                          <a:solidFill>
                            <a:srgbClr val="39639d"/>
                          </a:solidFill>
                          <a:effectLst/>
                          <a:uFillTx/>
                          <a:latin typeface="Calibri"/>
                          <a:ea typeface="Calibri"/>
                        </a:rPr>
                        <a:t>Responsabilitat</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c>
                  <a:txBody>
                    <a:bodyPr anchor="t">
                      <a:noAutofit/>
                    </a:bodyPr>
                    <a:p>
                      <a:pPr>
                        <a:lnSpc>
                          <a:spcPct val="100000"/>
                        </a:lnSpc>
                      </a:pPr>
                      <a:r>
                        <a:rPr b="1" lang="ca-ES" sz="2250" strike="noStrike" u="none">
                          <a:solidFill>
                            <a:srgbClr val="39639d"/>
                          </a:solidFill>
                          <a:effectLst/>
                          <a:uFillTx/>
                          <a:latin typeface="Calibri"/>
                          <a:ea typeface="Calibri"/>
                        </a:rPr>
                        <a:t>Què assumeix?</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r>
              <a:tr h="738000">
                <a:tc>
                  <a:txBody>
                    <a:bodyPr anchor="t">
                      <a:noAutofit/>
                    </a:bodyPr>
                    <a:p>
                      <a:pPr>
                        <a:lnSpc>
                          <a:spcPct val="100000"/>
                        </a:lnSpc>
                      </a:pPr>
                      <a:r>
                        <a:rPr b="0" lang="ca-ES" sz="2250" strike="noStrike" u="none">
                          <a:solidFill>
                            <a:srgbClr val="101010"/>
                          </a:solidFill>
                          <a:effectLst/>
                          <a:uFillTx/>
                          <a:latin typeface="Calibri"/>
                          <a:ea typeface="Calibri"/>
                        </a:rPr>
                        <a:t>Product Owner</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250" strike="noStrike" u="none">
                          <a:solidFill>
                            <a:srgbClr val="101010"/>
                          </a:solidFill>
                          <a:effectLst/>
                          <a:uFillTx/>
                          <a:latin typeface="Calibri"/>
                          <a:ea typeface="Calibri"/>
                        </a:rPr>
                        <a:t>Maximitza el valor i ordena el Product Backlog.</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738000">
                <a:tc>
                  <a:txBody>
                    <a:bodyPr anchor="t">
                      <a:noAutofit/>
                    </a:bodyPr>
                    <a:p>
                      <a:pPr>
                        <a:lnSpc>
                          <a:spcPct val="100000"/>
                        </a:lnSpc>
                      </a:pPr>
                      <a:r>
                        <a:rPr b="0" lang="ca-ES" sz="2250" strike="noStrike" u="none">
                          <a:solidFill>
                            <a:srgbClr val="101010"/>
                          </a:solidFill>
                          <a:effectLst/>
                          <a:uFillTx/>
                          <a:latin typeface="Calibri"/>
                          <a:ea typeface="Calibri"/>
                        </a:rPr>
                        <a:t>Scrum Master</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250" strike="noStrike" u="none">
                          <a:solidFill>
                            <a:srgbClr val="101010"/>
                          </a:solidFill>
                          <a:effectLst/>
                          <a:uFillTx/>
                          <a:latin typeface="Calibri"/>
                          <a:ea typeface="Calibri"/>
                        </a:rPr>
                        <a:t>Ajuda a aplicar Scrum i facilita la resolució</a:t>
                      </a:r>
                      <a:endParaRPr b="0" lang="ca-ES" sz="2250" strike="noStrike" u="none">
                        <a:solidFill>
                          <a:srgbClr val="000000"/>
                        </a:solidFill>
                        <a:effectLst/>
                        <a:uFillTx/>
                        <a:latin typeface="Arial"/>
                      </a:endParaRPr>
                    </a:p>
                    <a:p>
                      <a:pPr>
                        <a:lnSpc>
                          <a:spcPct val="100000"/>
                        </a:lnSpc>
                      </a:pPr>
                      <a:r>
                        <a:rPr b="0" lang="ca-ES" sz="2250" strike="noStrike" u="none">
                          <a:solidFill>
                            <a:srgbClr val="101010"/>
                          </a:solidFill>
                          <a:effectLst/>
                          <a:uFillTx/>
                          <a:latin typeface="Calibri"/>
                          <a:ea typeface="Calibri"/>
                        </a:rPr>
                        <a:t>d’impediments.</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738000">
                <a:tc>
                  <a:txBody>
                    <a:bodyPr anchor="t">
                      <a:noAutofit/>
                    </a:bodyPr>
                    <a:p>
                      <a:pPr>
                        <a:lnSpc>
                          <a:spcPct val="100000"/>
                        </a:lnSpc>
                      </a:pPr>
                      <a:r>
                        <a:rPr b="0" lang="ca-ES" sz="2250" strike="noStrike" u="none">
                          <a:solidFill>
                            <a:srgbClr val="101010"/>
                          </a:solidFill>
                          <a:effectLst/>
                          <a:uFillTx/>
                          <a:latin typeface="Calibri"/>
                          <a:ea typeface="Calibri"/>
                        </a:rPr>
                        <a:t>Developers</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250" strike="noStrike" u="none">
                          <a:solidFill>
                            <a:srgbClr val="101010"/>
                          </a:solidFill>
                          <a:effectLst/>
                          <a:uFillTx/>
                          <a:latin typeface="Calibri"/>
                          <a:ea typeface="Calibri"/>
                        </a:rPr>
                        <a:t>Planifiquen i fan el treball necessari</a:t>
                      </a:r>
                      <a:endParaRPr b="0" lang="ca-ES" sz="2250" strike="noStrike" u="none">
                        <a:solidFill>
                          <a:srgbClr val="000000"/>
                        </a:solidFill>
                        <a:effectLst/>
                        <a:uFillTx/>
                        <a:latin typeface="Arial"/>
                      </a:endParaRPr>
                    </a:p>
                    <a:p>
                      <a:pPr>
                        <a:lnSpc>
                          <a:spcPct val="100000"/>
                        </a:lnSpc>
                      </a:pPr>
                      <a:r>
                        <a:rPr b="0" lang="ca-ES" sz="2250" strike="noStrike" u="none">
                          <a:solidFill>
                            <a:srgbClr val="101010"/>
                          </a:solidFill>
                          <a:effectLst/>
                          <a:uFillTx/>
                          <a:latin typeface="Calibri"/>
                          <a:ea typeface="Calibri"/>
                        </a:rPr>
                        <a:t>per crear un increment amb qualitat.</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33"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Programador, analista o tester són perfils professionals.</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35"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De la necessitat a les tasques</a:t>
            </a:r>
            <a:endParaRPr b="0" lang="ca-ES" sz="3300" strike="noStrike" u="none">
              <a:solidFill>
                <a:srgbClr val="000000"/>
              </a:solidFill>
              <a:effectLst/>
              <a:uFillTx/>
              <a:latin typeface="Arial"/>
            </a:endParaRPr>
          </a:p>
        </p:txBody>
      </p:sp>
      <p:sp>
        <p:nvSpPr>
          <p:cNvPr id="36"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8</a:t>
            </a:r>
            <a:endParaRPr b="0" lang="ca-ES" sz="1200" strike="noStrike" u="none">
              <a:solidFill>
                <a:srgbClr val="000000"/>
              </a:solidFill>
              <a:effectLst/>
              <a:uFillTx/>
              <a:latin typeface="Arial"/>
            </a:endParaRPr>
          </a:p>
        </p:txBody>
      </p:sp>
      <p:graphicFrame>
        <p:nvGraphicFramePr>
          <p:cNvPr id="37" name=""/>
          <p:cNvGraphicFramePr/>
          <p:nvPr/>
        </p:nvGraphicFramePr>
        <p:xfrm>
          <a:off x="685800" y="1952640"/>
          <a:ext cx="10820160" cy="3133440"/>
        </p:xfrm>
        <a:graphic>
          <a:graphicData uri="http://schemas.openxmlformats.org/drawingml/2006/table">
            <a:tbl>
              <a:tblPr/>
              <a:tblGrid>
                <a:gridCol w="2476440"/>
                <a:gridCol w="8343720"/>
              </a:tblGrid>
              <a:tr h="783360">
                <a:tc>
                  <a:txBody>
                    <a:bodyPr anchor="t">
                      <a:noAutofit/>
                    </a:bodyPr>
                    <a:p>
                      <a:pPr>
                        <a:lnSpc>
                          <a:spcPct val="100000"/>
                        </a:lnSpc>
                      </a:pPr>
                      <a:r>
                        <a:rPr b="1" lang="ca-ES" sz="2320" strike="noStrike" u="none">
                          <a:solidFill>
                            <a:srgbClr val="39639d"/>
                          </a:solidFill>
                          <a:effectLst/>
                          <a:uFillTx/>
                          <a:latin typeface="Calibri"/>
                          <a:ea typeface="Calibri"/>
                        </a:rPr>
                        <a:t>Nivell</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c>
                  <a:txBody>
                    <a:bodyPr anchor="t">
                      <a:noAutofit/>
                    </a:bodyPr>
                    <a:p>
                      <a:pPr>
                        <a:lnSpc>
                          <a:spcPct val="100000"/>
                        </a:lnSpc>
                      </a:pPr>
                      <a:r>
                        <a:rPr b="1" lang="ca-ES" sz="2320" strike="noStrike" u="none">
                          <a:solidFill>
                            <a:srgbClr val="39639d"/>
                          </a:solidFill>
                          <a:effectLst/>
                          <a:uFillTx/>
                          <a:latin typeface="Calibri"/>
                          <a:ea typeface="Calibri"/>
                        </a:rPr>
                        <a:t>Exemple</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r>
              <a:tr h="783360">
                <a:tc>
                  <a:txBody>
                    <a:bodyPr anchor="t">
                      <a:noAutofit/>
                    </a:bodyPr>
                    <a:p>
                      <a:pPr>
                        <a:lnSpc>
                          <a:spcPct val="100000"/>
                        </a:lnSpc>
                      </a:pPr>
                      <a:r>
                        <a:rPr b="0" lang="ca-ES" sz="2320" strike="noStrike" u="none">
                          <a:solidFill>
                            <a:srgbClr val="101010"/>
                          </a:solidFill>
                          <a:effectLst/>
                          <a:uFillTx/>
                          <a:latin typeface="Calibri"/>
                          <a:ea typeface="Calibri"/>
                        </a:rPr>
                        <a:t>Èpica</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320" strike="noStrike" u="none">
                          <a:solidFill>
                            <a:srgbClr val="101010"/>
                          </a:solidFill>
                          <a:effectLst/>
                          <a:uFillTx/>
                          <a:latin typeface="Calibri"/>
                          <a:ea typeface="Calibri"/>
                        </a:rPr>
                        <a:t>Gestionar les reserves de llibres.</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783360">
                <a:tc>
                  <a:txBody>
                    <a:bodyPr anchor="t">
                      <a:noAutofit/>
                    </a:bodyPr>
                    <a:p>
                      <a:pPr>
                        <a:lnSpc>
                          <a:spcPct val="100000"/>
                        </a:lnSpc>
                      </a:pPr>
                      <a:r>
                        <a:rPr b="0" lang="ca-ES" sz="2320" strike="noStrike" u="none">
                          <a:solidFill>
                            <a:srgbClr val="101010"/>
                          </a:solidFill>
                          <a:effectLst/>
                          <a:uFillTx/>
                          <a:latin typeface="Calibri"/>
                          <a:ea typeface="Calibri"/>
                        </a:rPr>
                        <a:t>User Story</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320" strike="noStrike" u="none">
                          <a:solidFill>
                            <a:srgbClr val="101010"/>
                          </a:solidFill>
                          <a:effectLst/>
                          <a:uFillTx/>
                          <a:latin typeface="Calibri"/>
                          <a:ea typeface="Calibri"/>
                        </a:rPr>
                        <a:t>Com a lector, vull reservar un llibre</a:t>
                      </a:r>
                      <a:endParaRPr b="0" lang="ca-ES" sz="2320" strike="noStrike" u="none">
                        <a:solidFill>
                          <a:srgbClr val="000000"/>
                        </a:solidFill>
                        <a:effectLst/>
                        <a:uFillTx/>
                        <a:latin typeface="Arial"/>
                      </a:endParaRPr>
                    </a:p>
                    <a:p>
                      <a:pPr>
                        <a:lnSpc>
                          <a:spcPct val="100000"/>
                        </a:lnSpc>
                      </a:pPr>
                      <a:r>
                        <a:rPr b="0" lang="ca-ES" sz="2320" strike="noStrike" u="none">
                          <a:solidFill>
                            <a:srgbClr val="101010"/>
                          </a:solidFill>
                          <a:effectLst/>
                          <a:uFillTx/>
                          <a:latin typeface="Calibri"/>
                          <a:ea typeface="Calibri"/>
                        </a:rPr>
                        <a:t>per poder recollir-lo quan estigui disponible.</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783360">
                <a:tc>
                  <a:txBody>
                    <a:bodyPr anchor="t">
                      <a:noAutofit/>
                    </a:bodyPr>
                    <a:p>
                      <a:pPr>
                        <a:lnSpc>
                          <a:spcPct val="100000"/>
                        </a:lnSpc>
                      </a:pPr>
                      <a:r>
                        <a:rPr b="0" lang="ca-ES" sz="2320" strike="noStrike" u="none">
                          <a:solidFill>
                            <a:srgbClr val="101010"/>
                          </a:solidFill>
                          <a:effectLst/>
                          <a:uFillTx/>
                          <a:latin typeface="Calibri"/>
                          <a:ea typeface="Calibri"/>
                        </a:rPr>
                        <a:t>Tasca</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320" strike="noStrike" u="none">
                          <a:solidFill>
                            <a:srgbClr val="101010"/>
                          </a:solidFill>
                          <a:effectLst/>
                          <a:uFillTx/>
                          <a:latin typeface="Calibri"/>
                          <a:ea typeface="Calibri"/>
                        </a:rPr>
                        <a:t>Implementar la comprovació de disponibilitat.</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38"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Una èpica conté històries. Una història es pot dividir en tasques.</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40"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Una User Story ha d’explicar valor</a:t>
            </a:r>
            <a:endParaRPr b="0" lang="ca-ES" sz="3300" strike="noStrike" u="none">
              <a:solidFill>
                <a:srgbClr val="000000"/>
              </a:solidFill>
              <a:effectLst/>
              <a:uFillTx/>
              <a:latin typeface="Arial"/>
            </a:endParaRPr>
          </a:p>
        </p:txBody>
      </p:sp>
      <p:sp>
        <p:nvSpPr>
          <p:cNvPr id="41"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9</a:t>
            </a:r>
            <a:endParaRPr b="0" lang="ca-ES" sz="1200" strike="noStrike" u="none">
              <a:solidFill>
                <a:srgbClr val="000000"/>
              </a:solidFill>
              <a:effectLst/>
              <a:uFillTx/>
              <a:latin typeface="Arial"/>
            </a:endParaRPr>
          </a:p>
        </p:txBody>
      </p:sp>
      <p:sp>
        <p:nvSpPr>
          <p:cNvPr id="42" name=""/>
          <p:cNvSpPr/>
          <p:nvPr/>
        </p:nvSpPr>
        <p:spPr>
          <a:xfrm>
            <a:off x="714240" y="1847880"/>
            <a:ext cx="10667520" cy="1257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3380" strike="noStrike" u="none">
                <a:solidFill>
                  <a:srgbClr val="39639d"/>
                </a:solidFill>
                <a:effectLst/>
                <a:uFillTx/>
                <a:latin typeface="Calibri"/>
                <a:ea typeface="Calibri"/>
              </a:rPr>
              <a:t>Com a [usuari], vull [objectiu] per tal de [benefici]</a:t>
            </a:r>
            <a:endParaRPr b="0" lang="ca-ES" sz="3380" strike="noStrike" u="none">
              <a:solidFill>
                <a:srgbClr val="000000"/>
              </a:solidFill>
              <a:effectLst/>
              <a:uFillTx/>
              <a:latin typeface="Arial"/>
            </a:endParaRPr>
          </a:p>
        </p:txBody>
      </p:sp>
      <p:sp>
        <p:nvSpPr>
          <p:cNvPr id="43" name=""/>
          <p:cNvSpPr/>
          <p:nvPr/>
        </p:nvSpPr>
        <p:spPr>
          <a:xfrm>
            <a:off x="714240" y="3714840"/>
            <a:ext cx="10477080" cy="60912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2850" strike="noStrike" u="none">
                <a:solidFill>
                  <a:srgbClr val="101010"/>
                </a:solidFill>
                <a:effectLst/>
                <a:uFillTx/>
                <a:latin typeface="Calibri"/>
                <a:ea typeface="Calibri"/>
              </a:rPr>
              <a:t>«Crear una taula SQL»</a:t>
            </a:r>
            <a:endParaRPr b="0" lang="ca-ES" sz="2850" strike="noStrike" u="none">
              <a:solidFill>
                <a:srgbClr val="000000"/>
              </a:solidFill>
              <a:effectLst/>
              <a:uFillTx/>
              <a:latin typeface="Arial"/>
            </a:endParaRPr>
          </a:p>
        </p:txBody>
      </p:sp>
      <p:sp>
        <p:nvSpPr>
          <p:cNvPr id="44" name=""/>
          <p:cNvSpPr/>
          <p:nvPr/>
        </p:nvSpPr>
        <p:spPr>
          <a:xfrm>
            <a:off x="714240" y="4562640"/>
            <a:ext cx="10715400" cy="942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2400" strike="noStrike" u="none">
                <a:solidFill>
                  <a:srgbClr val="101010"/>
                </a:solidFill>
                <a:effectLst/>
                <a:uFillTx/>
                <a:latin typeface="Calibri"/>
                <a:ea typeface="Calibri"/>
              </a:rPr>
              <a:t>«Com a lector, vull veure les meves reserves</a:t>
            </a:r>
            <a:endParaRPr b="0" lang="ca-ES" sz="2400" strike="noStrike" u="none">
              <a:solidFill>
                <a:srgbClr val="000000"/>
              </a:solidFill>
              <a:effectLst/>
              <a:uFillTx/>
              <a:latin typeface="Arial"/>
            </a:endParaRPr>
          </a:p>
          <a:p>
            <a:pPr>
              <a:lnSpc>
                <a:spcPct val="100000"/>
              </a:lnSpc>
            </a:pPr>
            <a:r>
              <a:rPr b="0" lang="ca-ES" sz="2400" strike="noStrike" u="none">
                <a:solidFill>
                  <a:srgbClr val="101010"/>
                </a:solidFill>
                <a:effectLst/>
                <a:uFillTx/>
                <a:latin typeface="Calibri"/>
                <a:ea typeface="Calibri"/>
              </a:rPr>
              <a:t>per saber quins llibres tinc pendents de recollir.»</a:t>
            </a:r>
            <a:endParaRPr b="0" lang="ca-ES" sz="2400" strike="noStrike" u="none">
              <a:solidFill>
                <a:srgbClr val="000000"/>
              </a:solidFill>
              <a:effectLst/>
              <a:uFillTx/>
              <a:latin typeface="Arial"/>
            </a:endParaRPr>
          </a:p>
        </p:txBody>
      </p:sp>
      <p:sp>
        <p:nvSpPr>
          <p:cNvPr id="45"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Quina frase és una User Story? Què li falta a l’altra?</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47"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Desglossar una història en tasques</a:t>
            </a:r>
            <a:endParaRPr b="0" lang="ca-ES" sz="3300" strike="noStrike" u="none">
              <a:solidFill>
                <a:srgbClr val="000000"/>
              </a:solidFill>
              <a:effectLst/>
              <a:uFillTx/>
              <a:latin typeface="Arial"/>
            </a:endParaRPr>
          </a:p>
        </p:txBody>
      </p:sp>
      <p:sp>
        <p:nvSpPr>
          <p:cNvPr id="48"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10</a:t>
            </a:r>
            <a:endParaRPr b="0" lang="ca-ES" sz="1200" strike="noStrike" u="none">
              <a:solidFill>
                <a:srgbClr val="000000"/>
              </a:solidFill>
              <a:effectLst/>
              <a:uFillTx/>
              <a:latin typeface="Arial"/>
            </a:endParaRPr>
          </a:p>
        </p:txBody>
      </p:sp>
      <p:sp>
        <p:nvSpPr>
          <p:cNvPr id="49" name=""/>
          <p:cNvSpPr/>
          <p:nvPr/>
        </p:nvSpPr>
        <p:spPr>
          <a:xfrm>
            <a:off x="704880" y="1752480"/>
            <a:ext cx="1066752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470" strike="noStrike" u="none">
                <a:solidFill>
                  <a:srgbClr val="39639d"/>
                </a:solidFill>
                <a:effectLst/>
                <a:uFillTx/>
                <a:latin typeface="Calibri"/>
                <a:ea typeface="Calibri"/>
              </a:rPr>
              <a:t>User Story: </a:t>
            </a:r>
            <a:r>
              <a:rPr b="1" lang="ca-ES" sz="2470" strike="noStrike" u="none">
                <a:solidFill>
                  <a:srgbClr val="39639d"/>
                </a:solidFill>
                <a:effectLst/>
                <a:uFillTx/>
                <a:latin typeface="Calibri"/>
                <a:ea typeface="Calibri"/>
              </a:rPr>
              <a:t>Com a lector, vull reservar un llibre per poder recollir-lo quan estigui disponible</a:t>
            </a:r>
            <a:endParaRPr b="0" lang="ca-ES" sz="2470" strike="noStrike" u="none">
              <a:solidFill>
                <a:srgbClr val="000000"/>
              </a:solidFill>
              <a:effectLst/>
              <a:uFillTx/>
              <a:latin typeface="Arial"/>
            </a:endParaRPr>
          </a:p>
        </p:txBody>
      </p:sp>
      <p:graphicFrame>
        <p:nvGraphicFramePr>
          <p:cNvPr id="50" name=""/>
          <p:cNvGraphicFramePr/>
          <p:nvPr/>
        </p:nvGraphicFramePr>
        <p:xfrm>
          <a:off x="685800" y="2676600"/>
          <a:ext cx="10820160" cy="2695320"/>
        </p:xfrm>
        <a:graphic>
          <a:graphicData uri="http://schemas.openxmlformats.org/drawingml/2006/table">
            <a:tbl>
              <a:tblPr/>
              <a:tblGrid>
                <a:gridCol w="761760"/>
                <a:gridCol w="10058400"/>
              </a:tblGrid>
              <a:tr h="673560">
                <a:tc>
                  <a:txBody>
                    <a:bodyPr anchor="t">
                      <a:noAutofit/>
                    </a:bodyPr>
                    <a:p>
                      <a:pPr>
                        <a:lnSpc>
                          <a:spcPct val="100000"/>
                        </a:lnSpc>
                      </a:pPr>
                      <a:r>
                        <a:rPr b="1" lang="ca-ES" sz="2250" strike="noStrike" u="none">
                          <a:solidFill>
                            <a:srgbClr val="39639d"/>
                          </a:solidFill>
                          <a:effectLst/>
                          <a:uFillTx/>
                          <a:latin typeface="Calibri"/>
                          <a:ea typeface="Calibri"/>
                        </a:rPr>
                        <a:t>1</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250" strike="noStrike" u="none">
                          <a:solidFill>
                            <a:srgbClr val="101010"/>
                          </a:solidFill>
                          <a:effectLst/>
                          <a:uFillTx/>
                          <a:latin typeface="Calibri"/>
                          <a:ea typeface="Calibri"/>
                        </a:rPr>
                        <a:t>Preparar la pantalla i el botó de reserva.</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73560">
                <a:tc>
                  <a:txBody>
                    <a:bodyPr anchor="t">
                      <a:noAutofit/>
                    </a:bodyPr>
                    <a:p>
                      <a:pPr>
                        <a:lnSpc>
                          <a:spcPct val="100000"/>
                        </a:lnSpc>
                      </a:pPr>
                      <a:r>
                        <a:rPr b="1" lang="ca-ES" sz="2250" strike="noStrike" u="none">
                          <a:solidFill>
                            <a:srgbClr val="39639d"/>
                          </a:solidFill>
                          <a:effectLst/>
                          <a:uFillTx/>
                          <a:latin typeface="Calibri"/>
                          <a:ea typeface="Calibri"/>
                        </a:rPr>
                        <a:t>2</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250" strike="noStrike" u="none">
                          <a:solidFill>
                            <a:srgbClr val="101010"/>
                          </a:solidFill>
                          <a:effectLst/>
                          <a:uFillTx/>
                          <a:latin typeface="Calibri"/>
                          <a:ea typeface="Calibri"/>
                        </a:rPr>
                        <a:t>Implementar les regles de disponibilitat i reserva.</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73560">
                <a:tc>
                  <a:txBody>
                    <a:bodyPr anchor="t">
                      <a:noAutofit/>
                    </a:bodyPr>
                    <a:p>
                      <a:pPr>
                        <a:lnSpc>
                          <a:spcPct val="100000"/>
                        </a:lnSpc>
                      </a:pPr>
                      <a:r>
                        <a:rPr b="1" lang="ca-ES" sz="2250" strike="noStrike" u="none">
                          <a:solidFill>
                            <a:srgbClr val="39639d"/>
                          </a:solidFill>
                          <a:effectLst/>
                          <a:uFillTx/>
                          <a:latin typeface="Calibri"/>
                          <a:ea typeface="Calibri"/>
                        </a:rPr>
                        <a:t>3</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250" strike="noStrike" u="none">
                          <a:solidFill>
                            <a:srgbClr val="101010"/>
                          </a:solidFill>
                          <a:effectLst/>
                          <a:uFillTx/>
                          <a:latin typeface="Calibri"/>
                          <a:ea typeface="Calibri"/>
                        </a:rPr>
                        <a:t>Desar la reserva i retornar-ne el resultat.</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73560">
                <a:tc>
                  <a:txBody>
                    <a:bodyPr anchor="t">
                      <a:noAutofit/>
                    </a:bodyPr>
                    <a:p>
                      <a:pPr>
                        <a:lnSpc>
                          <a:spcPct val="100000"/>
                        </a:lnSpc>
                      </a:pPr>
                      <a:r>
                        <a:rPr b="1" lang="ca-ES" sz="2250" strike="noStrike" u="none">
                          <a:solidFill>
                            <a:srgbClr val="39639d"/>
                          </a:solidFill>
                          <a:effectLst/>
                          <a:uFillTx/>
                          <a:latin typeface="Calibri"/>
                          <a:ea typeface="Calibri"/>
                        </a:rPr>
                        <a:t>4</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250" strike="noStrike" u="none">
                          <a:solidFill>
                            <a:srgbClr val="101010"/>
                          </a:solidFill>
                          <a:effectLst/>
                          <a:uFillTx/>
                          <a:latin typeface="Calibri"/>
                          <a:ea typeface="Calibri"/>
                        </a:rPr>
                        <a:t>Mostrar la confirmació o l’error i provar els casos.</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51"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Com sabrem que la història està acabada correctament?</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53"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El backlog fa visible el treball pendent</a:t>
            </a:r>
            <a:endParaRPr b="0" lang="ca-ES" sz="3300" strike="noStrike" u="none">
              <a:solidFill>
                <a:srgbClr val="000000"/>
              </a:solidFill>
              <a:effectLst/>
              <a:uFillTx/>
              <a:latin typeface="Arial"/>
            </a:endParaRPr>
          </a:p>
        </p:txBody>
      </p:sp>
      <p:sp>
        <p:nvSpPr>
          <p:cNvPr id="54"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11</a:t>
            </a:r>
            <a:endParaRPr b="0" lang="ca-ES" sz="1200" strike="noStrike" u="none">
              <a:solidFill>
                <a:srgbClr val="000000"/>
              </a:solidFill>
              <a:effectLst/>
              <a:uFillTx/>
              <a:latin typeface="Arial"/>
            </a:endParaRPr>
          </a:p>
        </p:txBody>
      </p:sp>
      <p:graphicFrame>
        <p:nvGraphicFramePr>
          <p:cNvPr id="55" name=""/>
          <p:cNvGraphicFramePr/>
          <p:nvPr/>
        </p:nvGraphicFramePr>
        <p:xfrm>
          <a:off x="685800" y="2000160"/>
          <a:ext cx="10820160" cy="2857320"/>
        </p:xfrm>
        <a:graphic>
          <a:graphicData uri="http://schemas.openxmlformats.org/drawingml/2006/table">
            <a:tbl>
              <a:tblPr/>
              <a:tblGrid>
                <a:gridCol w="5410080"/>
                <a:gridCol w="5410080"/>
              </a:tblGrid>
              <a:tr h="952200">
                <a:tc>
                  <a:txBody>
                    <a:bodyPr anchor="t">
                      <a:noAutofit/>
                    </a:bodyPr>
                    <a:p>
                      <a:pPr>
                        <a:lnSpc>
                          <a:spcPct val="100000"/>
                        </a:lnSpc>
                      </a:pPr>
                      <a:r>
                        <a:rPr b="1" lang="ca-ES" sz="2250" strike="noStrike" u="none">
                          <a:solidFill>
                            <a:srgbClr val="39639d"/>
                          </a:solidFill>
                          <a:effectLst/>
                          <a:uFillTx/>
                          <a:latin typeface="Calibri"/>
                          <a:ea typeface="Calibri"/>
                        </a:rPr>
                        <a:t>Product Backlog</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c>
                  <a:txBody>
                    <a:bodyPr anchor="t">
                      <a:noAutofit/>
                    </a:bodyPr>
                    <a:p>
                      <a:pPr>
                        <a:lnSpc>
                          <a:spcPct val="100000"/>
                        </a:lnSpc>
                      </a:pPr>
                      <a:r>
                        <a:rPr b="1" lang="ca-ES" sz="2250" strike="noStrike" u="none">
                          <a:solidFill>
                            <a:srgbClr val="39639d"/>
                          </a:solidFill>
                          <a:effectLst/>
                          <a:uFillTx/>
                          <a:latin typeface="Calibri"/>
                          <a:ea typeface="Calibri"/>
                        </a:rPr>
                        <a:t>Sprint Backlog</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r>
              <a:tr h="952200">
                <a:tc>
                  <a:txBody>
                    <a:bodyPr anchor="t">
                      <a:noAutofit/>
                    </a:bodyPr>
                    <a:p>
                      <a:pPr>
                        <a:lnSpc>
                          <a:spcPct val="100000"/>
                        </a:lnSpc>
                      </a:pPr>
                      <a:r>
                        <a:rPr b="0" lang="ca-ES" sz="2250" strike="noStrike" u="none">
                          <a:solidFill>
                            <a:srgbClr val="101010"/>
                          </a:solidFill>
                          <a:effectLst/>
                          <a:uFillTx/>
                          <a:latin typeface="Calibri"/>
                          <a:ea typeface="Calibri"/>
                        </a:rPr>
                        <a:t>Necessitats i millores del producte,</a:t>
                      </a:r>
                      <a:endParaRPr b="0" lang="ca-ES" sz="2250" strike="noStrike" u="none">
                        <a:solidFill>
                          <a:srgbClr val="000000"/>
                        </a:solidFill>
                        <a:effectLst/>
                        <a:uFillTx/>
                        <a:latin typeface="Arial"/>
                      </a:endParaRPr>
                    </a:p>
                    <a:p>
                      <a:pPr>
                        <a:lnSpc>
                          <a:spcPct val="100000"/>
                        </a:lnSpc>
                      </a:pPr>
                      <a:r>
                        <a:rPr b="0" lang="ca-ES" sz="2250" strike="noStrike" u="none">
                          <a:solidFill>
                            <a:srgbClr val="101010"/>
                          </a:solidFill>
                          <a:effectLst/>
                          <a:uFillTx/>
                          <a:latin typeface="Calibri"/>
                          <a:ea typeface="Calibri"/>
                        </a:rPr>
                        <a:t>ordenades segons el valor i el context.</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250" strike="noStrike" u="none">
                          <a:solidFill>
                            <a:srgbClr val="101010"/>
                          </a:solidFill>
                          <a:effectLst/>
                          <a:uFillTx/>
                          <a:latin typeface="Calibri"/>
                          <a:ea typeface="Calibri"/>
                        </a:rPr>
                        <a:t>Objectiu del sprint, elements seleccionats</a:t>
                      </a:r>
                      <a:endParaRPr b="0" lang="ca-ES" sz="2250" strike="noStrike" u="none">
                        <a:solidFill>
                          <a:srgbClr val="000000"/>
                        </a:solidFill>
                        <a:effectLst/>
                        <a:uFillTx/>
                        <a:latin typeface="Arial"/>
                      </a:endParaRPr>
                    </a:p>
                    <a:p>
                      <a:pPr>
                        <a:lnSpc>
                          <a:spcPct val="100000"/>
                        </a:lnSpc>
                      </a:pPr>
                      <a:r>
                        <a:rPr b="0" lang="ca-ES" sz="2250" strike="noStrike" u="none">
                          <a:solidFill>
                            <a:srgbClr val="101010"/>
                          </a:solidFill>
                          <a:effectLst/>
                          <a:uFillTx/>
                          <a:latin typeface="Calibri"/>
                          <a:ea typeface="Calibri"/>
                        </a:rPr>
                        <a:t>i pla per desenvolupar-los.</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952200">
                <a:tc>
                  <a:txBody>
                    <a:bodyPr anchor="t">
                      <a:noAutofit/>
                    </a:bodyPr>
                    <a:p>
                      <a:pPr>
                        <a:lnSpc>
                          <a:spcPct val="100000"/>
                        </a:lnSpc>
                      </a:pPr>
                      <a:r>
                        <a:rPr b="0" lang="ca-ES" sz="2250" strike="noStrike" u="none">
                          <a:solidFill>
                            <a:srgbClr val="101010"/>
                          </a:solidFill>
                          <a:effectLst/>
                          <a:uFillTx/>
                          <a:latin typeface="Calibri"/>
                          <a:ea typeface="Calibri"/>
                        </a:rPr>
                        <a:t>Es revisa i es concreta a mesura</a:t>
                      </a:r>
                      <a:endParaRPr b="0" lang="ca-ES" sz="2250" strike="noStrike" u="none">
                        <a:solidFill>
                          <a:srgbClr val="000000"/>
                        </a:solidFill>
                        <a:effectLst/>
                        <a:uFillTx/>
                        <a:latin typeface="Arial"/>
                      </a:endParaRPr>
                    </a:p>
                    <a:p>
                      <a:pPr>
                        <a:lnSpc>
                          <a:spcPct val="100000"/>
                        </a:lnSpc>
                      </a:pPr>
                      <a:r>
                        <a:rPr b="0" lang="ca-ES" sz="2250" strike="noStrike" u="none">
                          <a:solidFill>
                            <a:srgbClr val="101010"/>
                          </a:solidFill>
                          <a:effectLst/>
                          <a:uFillTx/>
                          <a:latin typeface="Calibri"/>
                          <a:ea typeface="Calibri"/>
                        </a:rPr>
                        <a:t>que aprenem.</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250" strike="noStrike" u="none">
                          <a:solidFill>
                            <a:srgbClr val="101010"/>
                          </a:solidFill>
                          <a:effectLst/>
                          <a:uFillTx/>
                          <a:latin typeface="Calibri"/>
                          <a:ea typeface="Calibri"/>
                        </a:rPr>
                        <a:t>L’equip adapta el pla mentre treballa</a:t>
                      </a:r>
                      <a:endParaRPr b="0" lang="ca-ES" sz="2250" strike="noStrike" u="none">
                        <a:solidFill>
                          <a:srgbClr val="000000"/>
                        </a:solidFill>
                        <a:effectLst/>
                        <a:uFillTx/>
                        <a:latin typeface="Arial"/>
                      </a:endParaRPr>
                    </a:p>
                    <a:p>
                      <a:pPr>
                        <a:lnSpc>
                          <a:spcPct val="100000"/>
                        </a:lnSpc>
                      </a:pPr>
                      <a:r>
                        <a:rPr b="0" lang="ca-ES" sz="2250" strike="noStrike" u="none">
                          <a:solidFill>
                            <a:srgbClr val="101010"/>
                          </a:solidFill>
                          <a:effectLst/>
                          <a:uFillTx/>
                          <a:latin typeface="Calibri"/>
                          <a:ea typeface="Calibri"/>
                        </a:rPr>
                        <a:t>cap a l’objectiu acordat.</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56"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El backlog d’un producte no és només la llista de tasques d’avui.</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58"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Planificar un sprint</a:t>
            </a:r>
            <a:endParaRPr b="0" lang="ca-ES" sz="3300" strike="noStrike" u="none">
              <a:solidFill>
                <a:srgbClr val="000000"/>
              </a:solidFill>
              <a:effectLst/>
              <a:uFillTx/>
              <a:latin typeface="Arial"/>
            </a:endParaRPr>
          </a:p>
        </p:txBody>
      </p:sp>
      <p:sp>
        <p:nvSpPr>
          <p:cNvPr id="59"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12</a:t>
            </a:r>
            <a:endParaRPr b="0" lang="ca-ES" sz="1200" strike="noStrike" u="none">
              <a:solidFill>
                <a:srgbClr val="000000"/>
              </a:solidFill>
              <a:effectLst/>
              <a:uFillTx/>
              <a:latin typeface="Arial"/>
            </a:endParaRPr>
          </a:p>
        </p:txBody>
      </p:sp>
      <p:sp>
        <p:nvSpPr>
          <p:cNvPr id="60" name=""/>
          <p:cNvSpPr/>
          <p:nvPr/>
        </p:nvSpPr>
        <p:spPr>
          <a:xfrm>
            <a:off x="704880" y="1790640"/>
            <a:ext cx="1066752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700" strike="noStrike" u="none">
                <a:solidFill>
                  <a:srgbClr val="39639d"/>
                </a:solidFill>
                <a:effectLst/>
                <a:uFillTx/>
                <a:latin typeface="Calibri"/>
                <a:ea typeface="Calibri"/>
              </a:rPr>
              <a:t>Sprint: període de treball d’un mes o menys.</a:t>
            </a:r>
            <a:endParaRPr b="0" lang="ca-ES" sz="2700" strike="noStrike" u="none">
              <a:solidFill>
                <a:srgbClr val="000000"/>
              </a:solidFill>
              <a:effectLst/>
              <a:uFillTx/>
              <a:latin typeface="Arial"/>
            </a:endParaRPr>
          </a:p>
        </p:txBody>
      </p:sp>
      <p:graphicFrame>
        <p:nvGraphicFramePr>
          <p:cNvPr id="61" name=""/>
          <p:cNvGraphicFramePr/>
          <p:nvPr/>
        </p:nvGraphicFramePr>
        <p:xfrm>
          <a:off x="685800" y="2905200"/>
          <a:ext cx="10820160" cy="2266920"/>
        </p:xfrm>
        <a:graphic>
          <a:graphicData uri="http://schemas.openxmlformats.org/drawingml/2006/table">
            <a:tbl>
              <a:tblPr/>
              <a:tblGrid>
                <a:gridCol w="2428560"/>
                <a:gridCol w="8391240"/>
              </a:tblGrid>
              <a:tr h="755640">
                <a:tc>
                  <a:txBody>
                    <a:bodyPr anchor="t">
                      <a:noAutofit/>
                    </a:bodyPr>
                    <a:p>
                      <a:pPr>
                        <a:lnSpc>
                          <a:spcPct val="100000"/>
                        </a:lnSpc>
                      </a:pPr>
                      <a:r>
                        <a:rPr b="1" lang="ca-ES" sz="2470" strike="noStrike" u="none">
                          <a:solidFill>
                            <a:srgbClr val="39639d"/>
                          </a:solidFill>
                          <a:effectLst/>
                          <a:uFillTx/>
                          <a:latin typeface="Calibri"/>
                          <a:ea typeface="Calibri"/>
                        </a:rPr>
                        <a:t>Per què?</a:t>
                      </a:r>
                      <a:endParaRPr b="0" lang="ca-ES" sz="24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470" strike="noStrike" u="none">
                          <a:solidFill>
                            <a:srgbClr val="101010"/>
                          </a:solidFill>
                          <a:effectLst/>
                          <a:uFillTx/>
                          <a:latin typeface="Calibri"/>
                          <a:ea typeface="Calibri"/>
                        </a:rPr>
                        <a:t>Quin objectiu volem assolir?</a:t>
                      </a:r>
                      <a:endParaRPr b="0" lang="ca-ES" sz="24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755640">
                <a:tc>
                  <a:txBody>
                    <a:bodyPr anchor="t">
                      <a:noAutofit/>
                    </a:bodyPr>
                    <a:p>
                      <a:pPr>
                        <a:lnSpc>
                          <a:spcPct val="100000"/>
                        </a:lnSpc>
                      </a:pPr>
                      <a:r>
                        <a:rPr b="1" lang="ca-ES" sz="2470" strike="noStrike" u="none">
                          <a:solidFill>
                            <a:srgbClr val="39639d"/>
                          </a:solidFill>
                          <a:effectLst/>
                          <a:uFillTx/>
                          <a:latin typeface="Calibri"/>
                          <a:ea typeface="Calibri"/>
                        </a:rPr>
                        <a:t>Què?</a:t>
                      </a:r>
                      <a:endParaRPr b="0" lang="ca-ES" sz="24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470" strike="noStrike" u="none">
                          <a:solidFill>
                            <a:srgbClr val="101010"/>
                          </a:solidFill>
                          <a:effectLst/>
                          <a:uFillTx/>
                          <a:latin typeface="Calibri"/>
                          <a:ea typeface="Calibri"/>
                        </a:rPr>
                        <a:t>Quines històries podem completar?</a:t>
                      </a:r>
                      <a:endParaRPr b="0" lang="ca-ES" sz="24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755640">
                <a:tc>
                  <a:txBody>
                    <a:bodyPr anchor="t">
                      <a:noAutofit/>
                    </a:bodyPr>
                    <a:p>
                      <a:pPr>
                        <a:lnSpc>
                          <a:spcPct val="100000"/>
                        </a:lnSpc>
                      </a:pPr>
                      <a:r>
                        <a:rPr b="1" lang="ca-ES" sz="2470" strike="noStrike" u="none">
                          <a:solidFill>
                            <a:srgbClr val="39639d"/>
                          </a:solidFill>
                          <a:effectLst/>
                          <a:uFillTx/>
                          <a:latin typeface="Calibri"/>
                          <a:ea typeface="Calibri"/>
                        </a:rPr>
                        <a:t>Com?</a:t>
                      </a:r>
                      <a:endParaRPr b="0" lang="ca-ES" sz="24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470" strike="noStrike" u="none">
                          <a:solidFill>
                            <a:srgbClr val="101010"/>
                          </a:solidFill>
                          <a:effectLst/>
                          <a:uFillTx/>
                          <a:latin typeface="Calibri"/>
                          <a:ea typeface="Calibri"/>
                        </a:rPr>
                        <a:t>Quin pla i quines tasques necessitem?</a:t>
                      </a:r>
                      <a:endParaRPr b="0" lang="ca-ES" sz="24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62"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Abans de comprometre feina, cal entendre-la i valorar la capacitat.</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64"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El tauler reflecteix l’estat real</a:t>
            </a:r>
            <a:endParaRPr b="0" lang="ca-ES" sz="3300" strike="noStrike" u="none">
              <a:solidFill>
                <a:srgbClr val="000000"/>
              </a:solidFill>
              <a:effectLst/>
              <a:uFillTx/>
              <a:latin typeface="Arial"/>
            </a:endParaRPr>
          </a:p>
        </p:txBody>
      </p:sp>
      <p:sp>
        <p:nvSpPr>
          <p:cNvPr id="65"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15</a:t>
            </a:r>
            <a:endParaRPr b="0" lang="ca-ES" sz="1200" strike="noStrike" u="none">
              <a:solidFill>
                <a:srgbClr val="000000"/>
              </a:solidFill>
              <a:effectLst/>
              <a:uFillTx/>
              <a:latin typeface="Arial"/>
            </a:endParaRPr>
          </a:p>
        </p:txBody>
      </p:sp>
      <p:graphicFrame>
        <p:nvGraphicFramePr>
          <p:cNvPr id="66" name=""/>
          <p:cNvGraphicFramePr/>
          <p:nvPr/>
        </p:nvGraphicFramePr>
        <p:xfrm>
          <a:off x="685800" y="1762200"/>
          <a:ext cx="10820160" cy="3790800"/>
        </p:xfrm>
        <a:graphic>
          <a:graphicData uri="http://schemas.openxmlformats.org/drawingml/2006/table">
            <a:tbl>
              <a:tblPr/>
              <a:tblGrid>
                <a:gridCol w="3571560"/>
                <a:gridCol w="7248240"/>
              </a:tblGrid>
              <a:tr h="631800">
                <a:tc>
                  <a:txBody>
                    <a:bodyPr anchor="t">
                      <a:noAutofit/>
                    </a:bodyPr>
                    <a:p>
                      <a:pPr>
                        <a:lnSpc>
                          <a:spcPct val="100000"/>
                        </a:lnSpc>
                      </a:pPr>
                      <a:r>
                        <a:rPr b="1" lang="ca-ES" sz="2170" strike="noStrike" u="none">
                          <a:solidFill>
                            <a:srgbClr val="39639d"/>
                          </a:solidFill>
                          <a:effectLst/>
                          <a:uFillTx/>
                          <a:latin typeface="Calibri"/>
                          <a:ea typeface="Calibri"/>
                        </a:rPr>
                        <a:t>Columna</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c>
                  <a:txBody>
                    <a:bodyPr anchor="t">
                      <a:noAutofit/>
                    </a:bodyPr>
                    <a:p>
                      <a:pPr>
                        <a:lnSpc>
                          <a:spcPct val="100000"/>
                        </a:lnSpc>
                      </a:pPr>
                      <a:r>
                        <a:rPr b="1" lang="ca-ES" sz="2170" strike="noStrike" u="none">
                          <a:solidFill>
                            <a:srgbClr val="39639d"/>
                          </a:solidFill>
                          <a:effectLst/>
                          <a:uFillTx/>
                          <a:latin typeface="Calibri"/>
                          <a:ea typeface="Calibri"/>
                        </a:rPr>
                        <a:t>Estat de la tasca</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r>
              <a:tr h="631800">
                <a:tc>
                  <a:txBody>
                    <a:bodyPr anchor="t">
                      <a:noAutofit/>
                    </a:bodyPr>
                    <a:p>
                      <a:pPr>
                        <a:lnSpc>
                          <a:spcPct val="100000"/>
                        </a:lnSpc>
                      </a:pPr>
                      <a:r>
                        <a:rPr b="0" lang="ca-ES" sz="2170" strike="noStrike" u="none">
                          <a:solidFill>
                            <a:srgbClr val="101010"/>
                          </a:solidFill>
                          <a:effectLst/>
                          <a:uFillTx/>
                          <a:latin typeface="Calibri"/>
                          <a:ea typeface="Calibri"/>
                        </a:rPr>
                        <a:t>To do</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70" strike="noStrike" u="none">
                          <a:solidFill>
                            <a:srgbClr val="101010"/>
                          </a:solidFill>
                          <a:effectLst/>
                          <a:uFillTx/>
                          <a:latin typeface="Calibri"/>
                          <a:ea typeface="Calibri"/>
                        </a:rPr>
                        <a:t>Encara no ha començat.</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31800">
                <a:tc>
                  <a:txBody>
                    <a:bodyPr anchor="t">
                      <a:noAutofit/>
                    </a:bodyPr>
                    <a:p>
                      <a:pPr>
                        <a:lnSpc>
                          <a:spcPct val="100000"/>
                        </a:lnSpc>
                      </a:pPr>
                      <a:r>
                        <a:rPr b="0" lang="ca-ES" sz="2170" strike="noStrike" u="none">
                          <a:solidFill>
                            <a:srgbClr val="101010"/>
                          </a:solidFill>
                          <a:effectLst/>
                          <a:uFillTx/>
                          <a:latin typeface="Calibri"/>
                          <a:ea typeface="Calibri"/>
                        </a:rPr>
                        <a:t>En desenvolupament</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70" strike="noStrike" u="none">
                          <a:solidFill>
                            <a:srgbClr val="101010"/>
                          </a:solidFill>
                          <a:effectLst/>
                          <a:uFillTx/>
                          <a:latin typeface="Calibri"/>
                          <a:ea typeface="Calibri"/>
                        </a:rPr>
                        <a:t>S’està implementant o corregint.</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31800">
                <a:tc>
                  <a:txBody>
                    <a:bodyPr anchor="t">
                      <a:noAutofit/>
                    </a:bodyPr>
                    <a:p>
                      <a:pPr>
                        <a:lnSpc>
                          <a:spcPct val="100000"/>
                        </a:lnSpc>
                      </a:pPr>
                      <a:r>
                        <a:rPr b="0" lang="ca-ES" sz="2170" strike="noStrike" u="none">
                          <a:solidFill>
                            <a:srgbClr val="101010"/>
                          </a:solidFill>
                          <a:effectLst/>
                          <a:uFillTx/>
                          <a:latin typeface="Calibri"/>
                          <a:ea typeface="Calibri"/>
                        </a:rPr>
                        <a:t>A punt per testing</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70" strike="noStrike" u="none">
                          <a:solidFill>
                            <a:srgbClr val="101010"/>
                          </a:solidFill>
                          <a:effectLst/>
                          <a:uFillTx/>
                          <a:latin typeface="Calibri"/>
                          <a:ea typeface="Calibri"/>
                        </a:rPr>
                        <a:t>Està preparada per ser revisada.</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31800">
                <a:tc>
                  <a:txBody>
                    <a:bodyPr anchor="t">
                      <a:noAutofit/>
                    </a:bodyPr>
                    <a:p>
                      <a:pPr>
                        <a:lnSpc>
                          <a:spcPct val="100000"/>
                        </a:lnSpc>
                      </a:pPr>
                      <a:r>
                        <a:rPr b="0" lang="ca-ES" sz="2170" strike="noStrike" u="none">
                          <a:solidFill>
                            <a:srgbClr val="101010"/>
                          </a:solidFill>
                          <a:effectLst/>
                          <a:uFillTx/>
                          <a:latin typeface="Calibri"/>
                          <a:ea typeface="Calibri"/>
                        </a:rPr>
                        <a:t>En testing</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70" strike="noStrike" u="none">
                          <a:solidFill>
                            <a:srgbClr val="101010"/>
                          </a:solidFill>
                          <a:effectLst/>
                          <a:uFillTx/>
                          <a:latin typeface="Calibri"/>
                          <a:ea typeface="Calibri"/>
                        </a:rPr>
                        <a:t>S’està comprovant contra els requisits.</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31800">
                <a:tc>
                  <a:txBody>
                    <a:bodyPr anchor="t">
                      <a:noAutofit/>
                    </a:bodyPr>
                    <a:p>
                      <a:pPr>
                        <a:lnSpc>
                          <a:spcPct val="100000"/>
                        </a:lnSpc>
                      </a:pPr>
                      <a:r>
                        <a:rPr b="0" lang="ca-ES" sz="2170" strike="noStrike" u="none">
                          <a:solidFill>
                            <a:srgbClr val="101010"/>
                          </a:solidFill>
                          <a:effectLst/>
                          <a:uFillTx/>
                          <a:latin typeface="Calibri"/>
                          <a:ea typeface="Calibri"/>
                        </a:rPr>
                        <a:t>Done</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70" strike="noStrike" u="none">
                          <a:solidFill>
                            <a:srgbClr val="101010"/>
                          </a:solidFill>
                          <a:effectLst/>
                          <a:uFillTx/>
                          <a:latin typeface="Calibri"/>
                          <a:ea typeface="Calibri"/>
                        </a:rPr>
                        <a:t>Ha superat la revisió acordada.</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67" name=""/>
          <p:cNvSpPr/>
          <p:nvPr/>
        </p:nvSpPr>
        <p:spPr>
          <a:xfrm>
            <a:off x="704880" y="60102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Les columnes i els responsables s’han de mantenir actualitzats.</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69"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Daily: revisar i adaptar el pla</a:t>
            </a:r>
            <a:endParaRPr b="0" lang="ca-ES" sz="3300" strike="noStrike" u="none">
              <a:solidFill>
                <a:srgbClr val="000000"/>
              </a:solidFill>
              <a:effectLst/>
              <a:uFillTx/>
              <a:latin typeface="Arial"/>
            </a:endParaRPr>
          </a:p>
        </p:txBody>
      </p:sp>
      <p:sp>
        <p:nvSpPr>
          <p:cNvPr id="70"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16</a:t>
            </a:r>
            <a:endParaRPr b="0" lang="ca-ES" sz="1200" strike="noStrike" u="none">
              <a:solidFill>
                <a:srgbClr val="000000"/>
              </a:solidFill>
              <a:effectLst/>
              <a:uFillTx/>
              <a:latin typeface="Arial"/>
            </a:endParaRPr>
          </a:p>
        </p:txBody>
      </p:sp>
      <p:sp>
        <p:nvSpPr>
          <p:cNvPr id="71" name=""/>
          <p:cNvSpPr/>
          <p:nvPr/>
        </p:nvSpPr>
        <p:spPr>
          <a:xfrm>
            <a:off x="704880" y="1809720"/>
            <a:ext cx="10667520" cy="6854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850" strike="noStrike" u="none">
                <a:solidFill>
                  <a:srgbClr val="39639d"/>
                </a:solidFill>
                <a:effectLst/>
                <a:uFillTx/>
                <a:latin typeface="Calibri"/>
                <a:ea typeface="Calibri"/>
              </a:rPr>
              <a:t>15 minuts per coordinar el treball del sprint.</a:t>
            </a:r>
            <a:endParaRPr b="0" lang="ca-ES" sz="2850" strike="noStrike" u="none">
              <a:solidFill>
                <a:srgbClr val="000000"/>
              </a:solidFill>
              <a:effectLst/>
              <a:uFillTx/>
              <a:latin typeface="Arial"/>
            </a:endParaRPr>
          </a:p>
        </p:txBody>
      </p:sp>
      <p:sp>
        <p:nvSpPr>
          <p:cNvPr id="72" name=""/>
          <p:cNvSpPr/>
          <p:nvPr/>
        </p:nvSpPr>
        <p:spPr>
          <a:xfrm>
            <a:off x="743040" y="2943360"/>
            <a:ext cx="10667520" cy="2257200"/>
          </a:xfrm>
          <a:prstGeom prst="rect">
            <a:avLst/>
          </a:prstGeom>
          <a:noFill/>
          <a:ln w="0">
            <a:noFill/>
          </a:ln>
        </p:spPr>
        <p:style>
          <a:lnRef idx="0"/>
          <a:fillRef idx="0"/>
          <a:effectRef idx="0"/>
          <a:fontRef idx="minor"/>
        </p:style>
        <p:txBody>
          <a:bodyPr lIns="0" rIns="0" tIns="0" bIns="0" anchor="t">
            <a:noAutofit/>
          </a:bodyPr>
          <a:p>
            <a:pPr marL="241200" indent="-139680">
              <a:lnSpc>
                <a:spcPct val="100000"/>
              </a:lnSpc>
              <a:spcAft>
                <a:spcPts val="1500"/>
              </a:spcAft>
              <a:buClr>
                <a:srgbClr val="101010"/>
              </a:buClr>
              <a:buFont typeface="Symbol" charset="2"/>
              <a:buChar char=""/>
            </a:pPr>
            <a:r>
              <a:rPr b="0" lang="ca-ES" sz="2550" strike="noStrike" u="none">
                <a:solidFill>
                  <a:srgbClr val="101010"/>
                </a:solidFill>
                <a:effectLst/>
                <a:uFillTx/>
                <a:latin typeface="Calibri"/>
                <a:ea typeface="Calibri"/>
              </a:rPr>
              <a:t>Com avancem cap a l’objectiu del sprint?</a:t>
            </a:r>
            <a:endParaRPr b="0" lang="ca-ES" sz="2550" strike="noStrike" u="none">
              <a:solidFill>
                <a:srgbClr val="000000"/>
              </a:solidFill>
              <a:effectLst/>
              <a:uFillTx/>
              <a:latin typeface="Arial"/>
            </a:endParaRPr>
          </a:p>
          <a:p>
            <a:pPr marL="241200" indent="-139680">
              <a:lnSpc>
                <a:spcPct val="100000"/>
              </a:lnSpc>
              <a:spcAft>
                <a:spcPts val="1500"/>
              </a:spcAft>
              <a:buClr>
                <a:srgbClr val="101010"/>
              </a:buClr>
              <a:buFont typeface="Symbol" charset="2"/>
              <a:buChar char=""/>
            </a:pPr>
            <a:r>
              <a:rPr b="0" lang="ca-ES" sz="2550" strike="noStrike" u="none">
                <a:solidFill>
                  <a:srgbClr val="101010"/>
                </a:solidFill>
                <a:effectLst/>
                <a:uFillTx/>
                <a:latin typeface="Calibri"/>
                <a:ea typeface="Calibri"/>
              </a:rPr>
              <a:t>Què hem d’adaptar del pla?</a:t>
            </a:r>
            <a:endParaRPr b="0" lang="ca-ES" sz="2550" strike="noStrike" u="none">
              <a:solidFill>
                <a:srgbClr val="000000"/>
              </a:solidFill>
              <a:effectLst/>
              <a:uFillTx/>
              <a:latin typeface="Arial"/>
            </a:endParaRPr>
          </a:p>
          <a:p>
            <a:pPr marL="241200" indent="-139680">
              <a:lnSpc>
                <a:spcPct val="100000"/>
              </a:lnSpc>
              <a:spcAft>
                <a:spcPts val="1500"/>
              </a:spcAft>
              <a:buClr>
                <a:srgbClr val="101010"/>
              </a:buClr>
              <a:buFont typeface="Symbol" charset="2"/>
              <a:buChar char=""/>
            </a:pPr>
            <a:r>
              <a:rPr b="0" lang="ca-ES" sz="2550" strike="noStrike" u="none">
                <a:solidFill>
                  <a:srgbClr val="101010"/>
                </a:solidFill>
                <a:effectLst/>
                <a:uFillTx/>
                <a:latin typeface="Calibri"/>
                <a:ea typeface="Calibri"/>
              </a:rPr>
              <a:t>Quins bloquejos o dependències necessiten ajuda?</a:t>
            </a:r>
            <a:endParaRPr b="0" lang="ca-ES" sz="2550" strike="noStrike" u="none">
              <a:solidFill>
                <a:srgbClr val="000000"/>
              </a:solidFill>
              <a:effectLst/>
              <a:uFillTx/>
              <a:latin typeface="Arial"/>
            </a:endParaRPr>
          </a:p>
        </p:txBody>
      </p:sp>
      <p:sp>
        <p:nvSpPr>
          <p:cNvPr id="73"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Si et bloqueges ara, cal esperar a la Daily de demà?</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75"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Quan acaba el sprint</a:t>
            </a:r>
            <a:endParaRPr b="0" lang="ca-ES" sz="3300" strike="noStrike" u="none">
              <a:solidFill>
                <a:srgbClr val="000000"/>
              </a:solidFill>
              <a:effectLst/>
              <a:uFillTx/>
              <a:latin typeface="Arial"/>
            </a:endParaRPr>
          </a:p>
        </p:txBody>
      </p:sp>
      <p:sp>
        <p:nvSpPr>
          <p:cNvPr id="76"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17</a:t>
            </a:r>
            <a:endParaRPr b="0" lang="ca-ES" sz="1200" strike="noStrike" u="none">
              <a:solidFill>
                <a:srgbClr val="000000"/>
              </a:solidFill>
              <a:effectLst/>
              <a:uFillTx/>
              <a:latin typeface="Arial"/>
            </a:endParaRPr>
          </a:p>
        </p:txBody>
      </p:sp>
      <p:graphicFrame>
        <p:nvGraphicFramePr>
          <p:cNvPr id="77" name=""/>
          <p:cNvGraphicFramePr/>
          <p:nvPr/>
        </p:nvGraphicFramePr>
        <p:xfrm>
          <a:off x="685800" y="1952640"/>
          <a:ext cx="10820160" cy="2771280"/>
        </p:xfrm>
        <a:graphic>
          <a:graphicData uri="http://schemas.openxmlformats.org/drawingml/2006/table">
            <a:tbl>
              <a:tblPr/>
              <a:tblGrid>
                <a:gridCol w="4476600"/>
                <a:gridCol w="6343560"/>
              </a:tblGrid>
              <a:tr h="692640">
                <a:tc>
                  <a:txBody>
                    <a:bodyPr anchor="t">
                      <a:noAutofit/>
                    </a:bodyPr>
                    <a:p>
                      <a:pPr>
                        <a:lnSpc>
                          <a:spcPct val="100000"/>
                        </a:lnSpc>
                      </a:pPr>
                      <a:r>
                        <a:rPr b="1" lang="ca-ES" sz="2250" strike="noStrike" u="none">
                          <a:solidFill>
                            <a:srgbClr val="39639d"/>
                          </a:solidFill>
                          <a:effectLst/>
                          <a:uFillTx/>
                          <a:latin typeface="Calibri"/>
                          <a:ea typeface="Calibri"/>
                        </a:rPr>
                        <a:t>Què revisem?</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c>
                  <a:txBody>
                    <a:bodyPr anchor="t">
                      <a:noAutofit/>
                    </a:bodyPr>
                    <a:p>
                      <a:pPr>
                        <a:lnSpc>
                          <a:spcPct val="100000"/>
                        </a:lnSpc>
                      </a:pPr>
                      <a:r>
                        <a:rPr b="1" lang="ca-ES" sz="2250" strike="noStrike" u="none">
                          <a:solidFill>
                            <a:srgbClr val="39639d"/>
                          </a:solidFill>
                          <a:effectLst/>
                          <a:uFillTx/>
                          <a:latin typeface="Calibri"/>
                          <a:ea typeface="Calibri"/>
                        </a:rPr>
                        <a:t>Per a què serveix?</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r>
              <a:tr h="692640">
                <a:tc>
                  <a:txBody>
                    <a:bodyPr anchor="t">
                      <a:noAutofit/>
                    </a:bodyPr>
                    <a:p>
                      <a:pPr>
                        <a:lnSpc>
                          <a:spcPct val="100000"/>
                        </a:lnSpc>
                      </a:pPr>
                      <a:r>
                        <a:rPr b="0" lang="ca-ES" sz="2250" strike="noStrike" u="none">
                          <a:solidFill>
                            <a:srgbClr val="101010"/>
                          </a:solidFill>
                          <a:effectLst/>
                          <a:uFillTx/>
                          <a:latin typeface="Calibri"/>
                          <a:ea typeface="Calibri"/>
                        </a:rPr>
                        <a:t>Sprint Review: el producte</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250" strike="noStrike" u="none">
                          <a:solidFill>
                            <a:srgbClr val="101010"/>
                          </a:solidFill>
                          <a:effectLst/>
                          <a:uFillTx/>
                          <a:latin typeface="Calibri"/>
                          <a:ea typeface="Calibri"/>
                        </a:rPr>
                        <a:t>Inspeccionar el resultat i recollir feedback.</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92640">
                <a:tc>
                  <a:txBody>
                    <a:bodyPr anchor="t">
                      <a:noAutofit/>
                    </a:bodyPr>
                    <a:p>
                      <a:pPr>
                        <a:lnSpc>
                          <a:spcPct val="100000"/>
                        </a:lnSpc>
                      </a:pPr>
                      <a:r>
                        <a:rPr b="0" lang="ca-ES" sz="2250" strike="noStrike" u="none">
                          <a:solidFill>
                            <a:srgbClr val="101010"/>
                          </a:solidFill>
                          <a:effectLst/>
                          <a:uFillTx/>
                          <a:latin typeface="Calibri"/>
                          <a:ea typeface="Calibri"/>
                        </a:rPr>
                        <a:t>Retrospective: com treballem</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250" strike="noStrike" u="none">
                          <a:solidFill>
                            <a:srgbClr val="101010"/>
                          </a:solidFill>
                          <a:effectLst/>
                          <a:uFillTx/>
                          <a:latin typeface="Calibri"/>
                          <a:ea typeface="Calibri"/>
                        </a:rPr>
                        <a:t>Acordar millores en la col·laboració i la qualitat.</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92640">
                <a:tc>
                  <a:txBody>
                    <a:bodyPr anchor="t">
                      <a:noAutofit/>
                    </a:bodyPr>
                    <a:p>
                      <a:pPr>
                        <a:lnSpc>
                          <a:spcPct val="100000"/>
                        </a:lnSpc>
                      </a:pPr>
                      <a:r>
                        <a:rPr b="0" lang="ca-ES" sz="2250" strike="noStrike" u="none">
                          <a:solidFill>
                            <a:srgbClr val="101010"/>
                          </a:solidFill>
                          <a:effectLst/>
                          <a:uFillTx/>
                          <a:latin typeface="Calibri"/>
                          <a:ea typeface="Calibri"/>
                        </a:rPr>
                        <a:t>Treball pendent</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250" strike="noStrike" u="none">
                          <a:solidFill>
                            <a:srgbClr val="101010"/>
                          </a:solidFill>
                          <a:effectLst/>
                          <a:uFillTx/>
                          <a:latin typeface="Calibri"/>
                          <a:ea typeface="Calibri"/>
                        </a:rPr>
                        <a:t>Fer-lo visible i tornar a valorar la seva prioritat.</a:t>
                      </a:r>
                      <a:endParaRPr b="0" lang="ca-ES" sz="225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78"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«Ho he programat» és suficient per considerar-ho Done?</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80"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Arquitectura i patrons de disseny</a:t>
            </a:r>
            <a:endParaRPr b="0" lang="ca-ES" sz="3300" strike="noStrike" u="none">
              <a:solidFill>
                <a:srgbClr val="000000"/>
              </a:solidFill>
              <a:effectLst/>
              <a:uFillTx/>
              <a:latin typeface="Arial"/>
            </a:endParaRPr>
          </a:p>
        </p:txBody>
      </p:sp>
      <p:sp>
        <p:nvSpPr>
          <p:cNvPr id="81"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18</a:t>
            </a:r>
            <a:endParaRPr b="0" lang="ca-ES" sz="1200" strike="noStrike" u="none">
              <a:solidFill>
                <a:srgbClr val="000000"/>
              </a:solidFill>
              <a:effectLst/>
              <a:uFillTx/>
              <a:latin typeface="Arial"/>
            </a:endParaRPr>
          </a:p>
        </p:txBody>
      </p:sp>
      <p:sp>
        <p:nvSpPr>
          <p:cNvPr id="82" name=""/>
          <p:cNvSpPr/>
          <p:nvPr/>
        </p:nvSpPr>
        <p:spPr>
          <a:xfrm>
            <a:off x="704880" y="1714680"/>
            <a:ext cx="10667520" cy="1028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700" strike="noStrike" u="none">
                <a:solidFill>
                  <a:srgbClr val="39639d"/>
                </a:solidFill>
                <a:effectLst/>
                <a:uFillTx/>
                <a:latin typeface="Calibri"/>
                <a:ea typeface="Calibri"/>
              </a:rPr>
              <a:t>Arquitectura: parts del sistema, responsabilitats</a:t>
            </a:r>
            <a:endParaRPr b="0" lang="ca-ES" sz="2700" strike="noStrike" u="none">
              <a:solidFill>
                <a:srgbClr val="000000"/>
              </a:solidFill>
              <a:effectLst/>
              <a:uFillTx/>
              <a:latin typeface="Arial"/>
            </a:endParaRPr>
          </a:p>
          <a:p>
            <a:pPr>
              <a:lnSpc>
                <a:spcPct val="100000"/>
              </a:lnSpc>
            </a:pPr>
            <a:r>
              <a:rPr b="1" lang="ca-ES" sz="2700" strike="noStrike" u="none">
                <a:solidFill>
                  <a:srgbClr val="39639d"/>
                </a:solidFill>
                <a:effectLst/>
                <a:uFillTx/>
                <a:latin typeface="Calibri"/>
                <a:ea typeface="Calibri"/>
              </a:rPr>
              <a:t>i manera de relacionar-se.</a:t>
            </a:r>
            <a:endParaRPr b="0" lang="ca-ES" sz="2700" strike="noStrike" u="none">
              <a:solidFill>
                <a:srgbClr val="000000"/>
              </a:solidFill>
              <a:effectLst/>
              <a:uFillTx/>
              <a:latin typeface="Arial"/>
            </a:endParaRPr>
          </a:p>
        </p:txBody>
      </p:sp>
      <p:graphicFrame>
        <p:nvGraphicFramePr>
          <p:cNvPr id="83" name=""/>
          <p:cNvGraphicFramePr/>
          <p:nvPr/>
        </p:nvGraphicFramePr>
        <p:xfrm>
          <a:off x="685800" y="3152880"/>
          <a:ext cx="10820160" cy="2257200"/>
        </p:xfrm>
        <a:graphic>
          <a:graphicData uri="http://schemas.openxmlformats.org/drawingml/2006/table">
            <a:tbl>
              <a:tblPr/>
              <a:tblGrid>
                <a:gridCol w="3524040"/>
                <a:gridCol w="7296120"/>
              </a:tblGrid>
              <a:tr h="564120">
                <a:tc>
                  <a:txBody>
                    <a:bodyPr anchor="t">
                      <a:noAutofit/>
                    </a:bodyPr>
                    <a:p>
                      <a:pPr>
                        <a:lnSpc>
                          <a:spcPct val="100000"/>
                        </a:lnSpc>
                      </a:pPr>
                      <a:r>
                        <a:rPr b="1" lang="ca-ES" sz="2170" strike="noStrike" u="none">
                          <a:solidFill>
                            <a:srgbClr val="39639d"/>
                          </a:solidFill>
                          <a:effectLst/>
                          <a:uFillTx/>
                          <a:latin typeface="Calibri"/>
                          <a:ea typeface="Calibri"/>
                        </a:rPr>
                        <a:t>Família de patrons</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c>
                  <a:txBody>
                    <a:bodyPr anchor="t">
                      <a:noAutofit/>
                    </a:bodyPr>
                    <a:p>
                      <a:pPr>
                        <a:lnSpc>
                          <a:spcPct val="100000"/>
                        </a:lnSpc>
                      </a:pPr>
                      <a:r>
                        <a:rPr b="1" lang="ca-ES" sz="2170" strike="noStrike" u="none">
                          <a:solidFill>
                            <a:srgbClr val="39639d"/>
                          </a:solidFill>
                          <a:effectLst/>
                          <a:uFillTx/>
                          <a:latin typeface="Calibri"/>
                          <a:ea typeface="Calibri"/>
                        </a:rPr>
                        <a:t>Què ajuda a organitzar?</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r>
              <a:tr h="564120">
                <a:tc>
                  <a:txBody>
                    <a:bodyPr anchor="t">
                      <a:noAutofit/>
                    </a:bodyPr>
                    <a:p>
                      <a:pPr>
                        <a:lnSpc>
                          <a:spcPct val="100000"/>
                        </a:lnSpc>
                      </a:pPr>
                      <a:r>
                        <a:rPr b="0" lang="ca-ES" sz="2170" strike="noStrike" u="none">
                          <a:solidFill>
                            <a:srgbClr val="101010"/>
                          </a:solidFill>
                          <a:effectLst/>
                          <a:uFillTx/>
                          <a:latin typeface="Calibri"/>
                          <a:ea typeface="Calibri"/>
                        </a:rPr>
                        <a:t>Creacionals</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70" strike="noStrike" u="none">
                          <a:solidFill>
                            <a:srgbClr val="101010"/>
                          </a:solidFill>
                          <a:effectLst/>
                          <a:uFillTx/>
                          <a:latin typeface="Calibri"/>
                          <a:ea typeface="Calibri"/>
                        </a:rPr>
                        <a:t>La creació dels objectes.</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564120">
                <a:tc>
                  <a:txBody>
                    <a:bodyPr anchor="t">
                      <a:noAutofit/>
                    </a:bodyPr>
                    <a:p>
                      <a:pPr>
                        <a:lnSpc>
                          <a:spcPct val="100000"/>
                        </a:lnSpc>
                      </a:pPr>
                      <a:r>
                        <a:rPr b="0" lang="ca-ES" sz="2170" strike="noStrike" u="none">
                          <a:solidFill>
                            <a:srgbClr val="101010"/>
                          </a:solidFill>
                          <a:effectLst/>
                          <a:uFillTx/>
                          <a:latin typeface="Calibri"/>
                          <a:ea typeface="Calibri"/>
                        </a:rPr>
                        <a:t>Estructurals</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70" strike="noStrike" u="none">
                          <a:solidFill>
                            <a:srgbClr val="101010"/>
                          </a:solidFill>
                          <a:effectLst/>
                          <a:uFillTx/>
                          <a:latin typeface="Calibri"/>
                          <a:ea typeface="Calibri"/>
                        </a:rPr>
                        <a:t>La composició i les relacions entre elements.</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564120">
                <a:tc>
                  <a:txBody>
                    <a:bodyPr anchor="t">
                      <a:noAutofit/>
                    </a:bodyPr>
                    <a:p>
                      <a:pPr>
                        <a:lnSpc>
                          <a:spcPct val="100000"/>
                        </a:lnSpc>
                      </a:pPr>
                      <a:r>
                        <a:rPr b="0" lang="ca-ES" sz="2170" strike="noStrike" u="none">
                          <a:solidFill>
                            <a:srgbClr val="101010"/>
                          </a:solidFill>
                          <a:effectLst/>
                          <a:uFillTx/>
                          <a:latin typeface="Calibri"/>
                          <a:ea typeface="Calibri"/>
                        </a:rPr>
                        <a:t>De comportament</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170" strike="noStrike" u="none">
                          <a:solidFill>
                            <a:srgbClr val="101010"/>
                          </a:solidFill>
                          <a:effectLst/>
                          <a:uFillTx/>
                          <a:latin typeface="Calibri"/>
                          <a:ea typeface="Calibri"/>
                        </a:rPr>
                        <a:t>La interacció i el repartiment de responsabilitats.</a:t>
                      </a:r>
                      <a:endParaRPr b="0" lang="ca-ES" sz="217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84"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Separar responsabilitats facilita entendre i modificar el programa.</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5"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86"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Desenvolupament en tres capes</a:t>
            </a:r>
            <a:endParaRPr b="0" lang="ca-ES" sz="3300" strike="noStrike" u="none">
              <a:solidFill>
                <a:srgbClr val="000000"/>
              </a:solidFill>
              <a:effectLst/>
              <a:uFillTx/>
              <a:latin typeface="Arial"/>
            </a:endParaRPr>
          </a:p>
        </p:txBody>
      </p:sp>
      <p:sp>
        <p:nvSpPr>
          <p:cNvPr id="87"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19</a:t>
            </a:r>
            <a:endParaRPr b="0" lang="ca-ES" sz="1200" strike="noStrike" u="none">
              <a:solidFill>
                <a:srgbClr val="000000"/>
              </a:solidFill>
              <a:effectLst/>
              <a:uFillTx/>
              <a:latin typeface="Arial"/>
            </a:endParaRPr>
          </a:p>
        </p:txBody>
      </p:sp>
      <p:graphicFrame>
        <p:nvGraphicFramePr>
          <p:cNvPr id="88" name=""/>
          <p:cNvGraphicFramePr/>
          <p:nvPr/>
        </p:nvGraphicFramePr>
        <p:xfrm>
          <a:off x="685800" y="1990800"/>
          <a:ext cx="10820160" cy="2990520"/>
        </p:xfrm>
        <a:graphic>
          <a:graphicData uri="http://schemas.openxmlformats.org/drawingml/2006/table">
            <a:tbl>
              <a:tblPr/>
              <a:tblGrid>
                <a:gridCol w="3333600"/>
                <a:gridCol w="7486560"/>
              </a:tblGrid>
              <a:tr h="747360">
                <a:tc>
                  <a:txBody>
                    <a:bodyPr anchor="t">
                      <a:noAutofit/>
                    </a:bodyPr>
                    <a:p>
                      <a:pPr>
                        <a:lnSpc>
                          <a:spcPct val="100000"/>
                        </a:lnSpc>
                      </a:pPr>
                      <a:r>
                        <a:rPr b="1" lang="ca-ES" sz="2400" strike="noStrike" u="none">
                          <a:solidFill>
                            <a:srgbClr val="39639d"/>
                          </a:solidFill>
                          <a:effectLst/>
                          <a:uFillTx/>
                          <a:latin typeface="Calibri"/>
                          <a:ea typeface="Calibri"/>
                        </a:rPr>
                        <a:t>Capa</a:t>
                      </a:r>
                      <a:endParaRPr b="0" lang="ca-ES" sz="24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c>
                  <a:txBody>
                    <a:bodyPr anchor="t">
                      <a:noAutofit/>
                    </a:bodyPr>
                    <a:p>
                      <a:pPr>
                        <a:lnSpc>
                          <a:spcPct val="100000"/>
                        </a:lnSpc>
                      </a:pPr>
                      <a:r>
                        <a:rPr b="1" lang="ca-ES" sz="2400" strike="noStrike" u="none">
                          <a:solidFill>
                            <a:srgbClr val="39639d"/>
                          </a:solidFill>
                          <a:effectLst/>
                          <a:uFillTx/>
                          <a:latin typeface="Calibri"/>
                          <a:ea typeface="Calibri"/>
                        </a:rPr>
                        <a:t>Responsabilitat</a:t>
                      </a:r>
                      <a:endParaRPr b="0" lang="ca-ES" sz="24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r>
              <a:tr h="747360">
                <a:tc>
                  <a:txBody>
                    <a:bodyPr anchor="t">
                      <a:noAutofit/>
                    </a:bodyPr>
                    <a:p>
                      <a:pPr>
                        <a:lnSpc>
                          <a:spcPct val="100000"/>
                        </a:lnSpc>
                      </a:pPr>
                      <a:r>
                        <a:rPr b="0" lang="ca-ES" sz="2400" strike="noStrike" u="none">
                          <a:solidFill>
                            <a:srgbClr val="101010"/>
                          </a:solidFill>
                          <a:effectLst/>
                          <a:uFillTx/>
                          <a:latin typeface="Calibri"/>
                          <a:ea typeface="Calibri"/>
                        </a:rPr>
                        <a:t>Presentació</a:t>
                      </a:r>
                      <a:endParaRPr b="0" lang="ca-ES" sz="24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400" strike="noStrike" u="none">
                          <a:solidFill>
                            <a:srgbClr val="101010"/>
                          </a:solidFill>
                          <a:effectLst/>
                          <a:uFillTx/>
                          <a:latin typeface="Calibri"/>
                          <a:ea typeface="Calibri"/>
                        </a:rPr>
                        <a:t>Interacció amb l’usuari i visualització.</a:t>
                      </a:r>
                      <a:endParaRPr b="0" lang="ca-ES" sz="24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747360">
                <a:tc>
                  <a:txBody>
                    <a:bodyPr anchor="t">
                      <a:noAutofit/>
                    </a:bodyPr>
                    <a:p>
                      <a:pPr>
                        <a:lnSpc>
                          <a:spcPct val="100000"/>
                        </a:lnSpc>
                      </a:pPr>
                      <a:r>
                        <a:rPr b="0" lang="ca-ES" sz="2400" strike="noStrike" u="none">
                          <a:solidFill>
                            <a:srgbClr val="101010"/>
                          </a:solidFill>
                          <a:effectLst/>
                          <a:uFillTx/>
                          <a:latin typeface="Calibri"/>
                          <a:ea typeface="Calibri"/>
                        </a:rPr>
                        <a:t>Negoci</a:t>
                      </a:r>
                      <a:endParaRPr b="0" lang="ca-ES" sz="24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400" strike="noStrike" u="none">
                          <a:solidFill>
                            <a:srgbClr val="101010"/>
                          </a:solidFill>
                          <a:effectLst/>
                          <a:uFillTx/>
                          <a:latin typeface="Calibri"/>
                          <a:ea typeface="Calibri"/>
                        </a:rPr>
                        <a:t>Regles i operacions de l’aplicació.</a:t>
                      </a:r>
                      <a:endParaRPr b="0" lang="ca-ES" sz="24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747360">
                <a:tc>
                  <a:txBody>
                    <a:bodyPr anchor="t">
                      <a:noAutofit/>
                    </a:bodyPr>
                    <a:p>
                      <a:pPr>
                        <a:lnSpc>
                          <a:spcPct val="100000"/>
                        </a:lnSpc>
                      </a:pPr>
                      <a:r>
                        <a:rPr b="0" lang="ca-ES" sz="2400" strike="noStrike" u="none">
                          <a:solidFill>
                            <a:srgbClr val="101010"/>
                          </a:solidFill>
                          <a:effectLst/>
                          <a:uFillTx/>
                          <a:latin typeface="Calibri"/>
                          <a:ea typeface="Calibri"/>
                        </a:rPr>
                        <a:t>Dades</a:t>
                      </a:r>
                      <a:endParaRPr b="0" lang="ca-ES" sz="24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400" strike="noStrike" u="none">
                          <a:solidFill>
                            <a:srgbClr val="101010"/>
                          </a:solidFill>
                          <a:effectLst/>
                          <a:uFillTx/>
                          <a:latin typeface="Calibri"/>
                          <a:ea typeface="Calibri"/>
                        </a:rPr>
                        <a:t>Accés a la informació i persistència.</a:t>
                      </a:r>
                      <a:endParaRPr b="0" lang="ca-ES" sz="240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89"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La capa de negoci connecta les operacions amb les dades.</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91"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MVC: separar tres responsabilitats</a:t>
            </a:r>
            <a:endParaRPr b="0" lang="ca-ES" sz="3300" strike="noStrike" u="none">
              <a:solidFill>
                <a:srgbClr val="000000"/>
              </a:solidFill>
              <a:effectLst/>
              <a:uFillTx/>
              <a:latin typeface="Arial"/>
            </a:endParaRPr>
          </a:p>
        </p:txBody>
      </p:sp>
      <p:sp>
        <p:nvSpPr>
          <p:cNvPr id="92"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20</a:t>
            </a:r>
            <a:endParaRPr b="0" lang="ca-ES" sz="1200" strike="noStrike" u="none">
              <a:solidFill>
                <a:srgbClr val="000000"/>
              </a:solidFill>
              <a:effectLst/>
              <a:uFillTx/>
              <a:latin typeface="Arial"/>
            </a:endParaRPr>
          </a:p>
        </p:txBody>
      </p:sp>
      <p:graphicFrame>
        <p:nvGraphicFramePr>
          <p:cNvPr id="93" name=""/>
          <p:cNvGraphicFramePr/>
          <p:nvPr/>
        </p:nvGraphicFramePr>
        <p:xfrm>
          <a:off x="685800" y="1962000"/>
          <a:ext cx="10820160" cy="3333600"/>
        </p:xfrm>
        <a:graphic>
          <a:graphicData uri="http://schemas.openxmlformats.org/drawingml/2006/table">
            <a:tbl>
              <a:tblPr/>
              <a:tblGrid>
                <a:gridCol w="2714400"/>
                <a:gridCol w="8105760"/>
              </a:tblGrid>
              <a:tr h="833400">
                <a:tc>
                  <a:txBody>
                    <a:bodyPr anchor="t">
                      <a:noAutofit/>
                    </a:bodyPr>
                    <a:p>
                      <a:pPr>
                        <a:lnSpc>
                          <a:spcPct val="100000"/>
                        </a:lnSpc>
                      </a:pPr>
                      <a:r>
                        <a:rPr b="1" lang="ca-ES" sz="2320" strike="noStrike" u="none">
                          <a:solidFill>
                            <a:srgbClr val="39639d"/>
                          </a:solidFill>
                          <a:effectLst/>
                          <a:uFillTx/>
                          <a:latin typeface="Calibri"/>
                          <a:ea typeface="Calibri"/>
                        </a:rPr>
                        <a:t>Part</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c>
                  <a:txBody>
                    <a:bodyPr anchor="t">
                      <a:noAutofit/>
                    </a:bodyPr>
                    <a:p>
                      <a:pPr>
                        <a:lnSpc>
                          <a:spcPct val="100000"/>
                        </a:lnSpc>
                      </a:pPr>
                      <a:r>
                        <a:rPr b="1" lang="ca-ES" sz="2320" strike="noStrike" u="none">
                          <a:solidFill>
                            <a:srgbClr val="39639d"/>
                          </a:solidFill>
                          <a:effectLst/>
                          <a:uFillTx/>
                          <a:latin typeface="Calibri"/>
                          <a:ea typeface="Calibri"/>
                        </a:rPr>
                        <a:t>Responsabilitat</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2f2f2"/>
                    </a:solidFill>
                  </a:tcPr>
                </a:tc>
              </a:tr>
              <a:tr h="833400">
                <a:tc>
                  <a:txBody>
                    <a:bodyPr anchor="t">
                      <a:noAutofit/>
                    </a:bodyPr>
                    <a:p>
                      <a:pPr>
                        <a:lnSpc>
                          <a:spcPct val="100000"/>
                        </a:lnSpc>
                      </a:pPr>
                      <a:r>
                        <a:rPr b="0" lang="ca-ES" sz="2320" strike="noStrike" u="none">
                          <a:solidFill>
                            <a:srgbClr val="101010"/>
                          </a:solidFill>
                          <a:effectLst/>
                          <a:uFillTx/>
                          <a:latin typeface="Calibri"/>
                          <a:ea typeface="Calibri"/>
                        </a:rPr>
                        <a:t>Model</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320" strike="noStrike" u="none">
                          <a:solidFill>
                            <a:srgbClr val="101010"/>
                          </a:solidFill>
                          <a:effectLst/>
                          <a:uFillTx/>
                          <a:latin typeface="Calibri"/>
                          <a:ea typeface="Calibri"/>
                        </a:rPr>
                        <a:t>Dades, estat i regles del domini.</a:t>
                      </a:r>
                      <a:endParaRPr b="0" lang="ca-ES" sz="2320" strike="noStrike" u="none">
                        <a:solidFill>
                          <a:srgbClr val="000000"/>
                        </a:solidFill>
                        <a:effectLst/>
                        <a:uFillTx/>
                        <a:latin typeface="Arial"/>
                      </a:endParaRPr>
                    </a:p>
                    <a:p>
                      <a:pPr>
                        <a:lnSpc>
                          <a:spcPct val="100000"/>
                        </a:lnSpc>
                      </a:pPr>
                      <a:r>
                        <a:rPr b="0" lang="ca-ES" sz="2320" strike="noStrike" u="none">
                          <a:solidFill>
                            <a:srgbClr val="101010"/>
                          </a:solidFill>
                          <a:effectLst/>
                          <a:uFillTx/>
                          <a:latin typeface="Calibri"/>
                          <a:ea typeface="Calibri"/>
                        </a:rPr>
                        <a:t>Gestiona les operacions i la persistència.</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833400">
                <a:tc>
                  <a:txBody>
                    <a:bodyPr anchor="t">
                      <a:noAutofit/>
                    </a:bodyPr>
                    <a:p>
                      <a:pPr>
                        <a:lnSpc>
                          <a:spcPct val="100000"/>
                        </a:lnSpc>
                      </a:pPr>
                      <a:r>
                        <a:rPr b="0" lang="ca-ES" sz="2320" strike="noStrike" u="none">
                          <a:solidFill>
                            <a:srgbClr val="101010"/>
                          </a:solidFill>
                          <a:effectLst/>
                          <a:uFillTx/>
                          <a:latin typeface="Calibri"/>
                          <a:ea typeface="Calibri"/>
                        </a:rPr>
                        <a:t>Vista</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320" strike="noStrike" u="none">
                          <a:solidFill>
                            <a:srgbClr val="101010"/>
                          </a:solidFill>
                          <a:effectLst/>
                          <a:uFillTx/>
                          <a:latin typeface="Calibri"/>
                          <a:ea typeface="Calibri"/>
                        </a:rPr>
                        <a:t>Presenta la informació a l’usuari.</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833400">
                <a:tc>
                  <a:txBody>
                    <a:bodyPr anchor="t">
                      <a:noAutofit/>
                    </a:bodyPr>
                    <a:p>
                      <a:pPr>
                        <a:lnSpc>
                          <a:spcPct val="100000"/>
                        </a:lnSpc>
                      </a:pPr>
                      <a:r>
                        <a:rPr b="0" lang="ca-ES" sz="2320" strike="noStrike" u="none">
                          <a:solidFill>
                            <a:srgbClr val="101010"/>
                          </a:solidFill>
                          <a:effectLst/>
                          <a:uFillTx/>
                          <a:latin typeface="Calibri"/>
                          <a:ea typeface="Calibri"/>
                        </a:rPr>
                        <a:t>Controlador</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320" strike="noStrike" u="none">
                          <a:solidFill>
                            <a:srgbClr val="101010"/>
                          </a:solidFill>
                          <a:effectLst/>
                          <a:uFillTx/>
                          <a:latin typeface="Calibri"/>
                          <a:ea typeface="Calibri"/>
                        </a:rPr>
                        <a:t>Rep les accions i coordina el model</a:t>
                      </a:r>
                      <a:endParaRPr b="0" lang="ca-ES" sz="2320" strike="noStrike" u="none">
                        <a:solidFill>
                          <a:srgbClr val="000000"/>
                        </a:solidFill>
                        <a:effectLst/>
                        <a:uFillTx/>
                        <a:latin typeface="Arial"/>
                      </a:endParaRPr>
                    </a:p>
                    <a:p>
                      <a:pPr>
                        <a:lnSpc>
                          <a:spcPct val="100000"/>
                        </a:lnSpc>
                      </a:pPr>
                      <a:r>
                        <a:rPr b="0" lang="ca-ES" sz="2320" strike="noStrike" u="none">
                          <a:solidFill>
                            <a:srgbClr val="101010"/>
                          </a:solidFill>
                          <a:effectLst/>
                          <a:uFillTx/>
                          <a:latin typeface="Calibri"/>
                          <a:ea typeface="Calibri"/>
                        </a:rPr>
                        <a:t>i la resposta que es presenta.</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94"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MVC no és una equivalència directa de presentació / negoci / dades.</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
          <p:cNvSpPr/>
          <p:nvPr/>
        </p:nvSpPr>
        <p:spPr>
          <a:xfrm>
            <a:off x="0" y="0"/>
            <a:ext cx="12191760" cy="1333080"/>
          </a:xfrm>
          <a:prstGeom prst="rect">
            <a:avLst/>
          </a:prstGeom>
          <a:solidFill>
            <a:srgbClr val="d24726"/>
          </a:solidFill>
          <a:ln w="0">
            <a:noFill/>
          </a:ln>
        </p:spPr>
        <p:style>
          <a:lnRef idx="0"/>
          <a:fillRef idx="0"/>
          <a:effectRef idx="0"/>
          <a:fontRef idx="minor"/>
        </p:style>
        <p:txBody>
          <a:bodyPr lIns="90000" rIns="90000" tIns="45000" bIns="45000" anchor="t">
            <a:noAutofit/>
          </a:bodyPr>
          <a:p>
            <a:endParaRPr b="0" lang="ca-ES" sz="1800" strike="noStrike" u="none">
              <a:solidFill>
                <a:srgbClr val="ffffff"/>
              </a:solidFill>
              <a:effectLst/>
              <a:uFillTx/>
              <a:latin typeface="Arial"/>
            </a:endParaRPr>
          </a:p>
        </p:txBody>
      </p:sp>
      <p:sp>
        <p:nvSpPr>
          <p:cNvPr id="96" name=""/>
          <p:cNvSpPr/>
          <p:nvPr/>
        </p:nvSpPr>
        <p:spPr>
          <a:xfrm>
            <a:off x="666720" y="257040"/>
            <a:ext cx="108583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3300" strike="noStrike" u="none">
                <a:solidFill>
                  <a:srgbClr val="ffffff"/>
                </a:solidFill>
                <a:effectLst/>
                <a:uFillTx/>
                <a:latin typeface="Calibri"/>
                <a:ea typeface="Calibri"/>
              </a:rPr>
              <a:t>MVC aplicat a una reserva de llibre</a:t>
            </a:r>
            <a:endParaRPr b="0" lang="ca-ES" sz="3300" strike="noStrike" u="none">
              <a:solidFill>
                <a:srgbClr val="000000"/>
              </a:solidFill>
              <a:effectLst/>
              <a:uFillTx/>
              <a:latin typeface="Arial"/>
            </a:endParaRPr>
          </a:p>
        </p:txBody>
      </p:sp>
      <p:sp>
        <p:nvSpPr>
          <p:cNvPr id="97" name=""/>
          <p:cNvSpPr/>
          <p:nvPr/>
        </p:nvSpPr>
        <p:spPr>
          <a:xfrm>
            <a:off x="11572920" y="6486480"/>
            <a:ext cx="333000" cy="218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ca-ES" sz="1200" strike="noStrike" u="none">
                <a:solidFill>
                  <a:srgbClr val="777777"/>
                </a:solidFill>
                <a:effectLst/>
                <a:uFillTx/>
                <a:latin typeface="Calibri"/>
                <a:ea typeface="Calibri"/>
              </a:rPr>
              <a:t>21</a:t>
            </a:r>
            <a:endParaRPr b="0" lang="ca-ES" sz="1200" strike="noStrike" u="none">
              <a:solidFill>
                <a:srgbClr val="000000"/>
              </a:solidFill>
              <a:effectLst/>
              <a:uFillTx/>
              <a:latin typeface="Arial"/>
            </a:endParaRPr>
          </a:p>
        </p:txBody>
      </p:sp>
      <p:graphicFrame>
        <p:nvGraphicFramePr>
          <p:cNvPr id="98" name=""/>
          <p:cNvGraphicFramePr/>
          <p:nvPr/>
        </p:nvGraphicFramePr>
        <p:xfrm>
          <a:off x="685800" y="1981080"/>
          <a:ext cx="10820160" cy="2876040"/>
        </p:xfrm>
        <a:graphic>
          <a:graphicData uri="http://schemas.openxmlformats.org/drawingml/2006/table">
            <a:tbl>
              <a:tblPr/>
              <a:tblGrid>
                <a:gridCol w="2714400"/>
                <a:gridCol w="8105760"/>
              </a:tblGrid>
              <a:tr h="958680">
                <a:tc>
                  <a:txBody>
                    <a:bodyPr anchor="t">
                      <a:noAutofit/>
                    </a:bodyPr>
                    <a:p>
                      <a:pPr>
                        <a:lnSpc>
                          <a:spcPct val="100000"/>
                        </a:lnSpc>
                      </a:pPr>
                      <a:r>
                        <a:rPr b="1" lang="ca-ES" sz="2320" strike="noStrike" u="none">
                          <a:solidFill>
                            <a:srgbClr val="39639d"/>
                          </a:solidFill>
                          <a:effectLst/>
                          <a:uFillTx/>
                          <a:latin typeface="Calibri"/>
                          <a:ea typeface="Calibri"/>
                        </a:rPr>
                        <a:t>Model</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320" strike="noStrike" u="none">
                          <a:solidFill>
                            <a:srgbClr val="101010"/>
                          </a:solidFill>
                          <a:effectLst/>
                          <a:uFillTx/>
                          <a:latin typeface="Calibri"/>
                          <a:ea typeface="Calibri"/>
                        </a:rPr>
                        <a:t>Llibre, lector i reserva. Comprovar disponibilitat</a:t>
                      </a:r>
                      <a:endParaRPr b="0" lang="ca-ES" sz="2320" strike="noStrike" u="none">
                        <a:solidFill>
                          <a:srgbClr val="000000"/>
                        </a:solidFill>
                        <a:effectLst/>
                        <a:uFillTx/>
                        <a:latin typeface="Arial"/>
                      </a:endParaRPr>
                    </a:p>
                    <a:p>
                      <a:pPr>
                        <a:lnSpc>
                          <a:spcPct val="100000"/>
                        </a:lnSpc>
                      </a:pPr>
                      <a:r>
                        <a:rPr b="0" lang="ca-ES" sz="2320" strike="noStrike" u="none">
                          <a:solidFill>
                            <a:srgbClr val="101010"/>
                          </a:solidFill>
                          <a:effectLst/>
                          <a:uFillTx/>
                          <a:latin typeface="Calibri"/>
                          <a:ea typeface="Calibri"/>
                        </a:rPr>
                        <a:t>i límit de reserves; desar la reserva.</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958680">
                <a:tc>
                  <a:txBody>
                    <a:bodyPr anchor="t">
                      <a:noAutofit/>
                    </a:bodyPr>
                    <a:p>
                      <a:pPr>
                        <a:lnSpc>
                          <a:spcPct val="100000"/>
                        </a:lnSpc>
                      </a:pPr>
                      <a:r>
                        <a:rPr b="1" lang="ca-ES" sz="2320" strike="noStrike" u="none">
                          <a:solidFill>
                            <a:srgbClr val="39639d"/>
                          </a:solidFill>
                          <a:effectLst/>
                          <a:uFillTx/>
                          <a:latin typeface="Calibri"/>
                          <a:ea typeface="Calibri"/>
                        </a:rPr>
                        <a:t>Vista</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320" strike="noStrike" u="none">
                          <a:solidFill>
                            <a:srgbClr val="101010"/>
                          </a:solidFill>
                          <a:effectLst/>
                          <a:uFillTx/>
                          <a:latin typeface="Calibri"/>
                          <a:ea typeface="Calibri"/>
                        </a:rPr>
                        <a:t>Catàleg, botó «Reservar» i confirmació.</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958680">
                <a:tc>
                  <a:txBody>
                    <a:bodyPr anchor="t">
                      <a:noAutofit/>
                    </a:bodyPr>
                    <a:p>
                      <a:pPr>
                        <a:lnSpc>
                          <a:spcPct val="100000"/>
                        </a:lnSpc>
                      </a:pPr>
                      <a:r>
                        <a:rPr b="1" lang="ca-ES" sz="2320" strike="noStrike" u="none">
                          <a:solidFill>
                            <a:srgbClr val="39639d"/>
                          </a:solidFill>
                          <a:effectLst/>
                          <a:uFillTx/>
                          <a:latin typeface="Calibri"/>
                          <a:ea typeface="Calibri"/>
                        </a:rPr>
                        <a:t>Controlador</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b="0" lang="ca-ES" sz="2320" strike="noStrike" u="none">
                          <a:solidFill>
                            <a:srgbClr val="101010"/>
                          </a:solidFill>
                          <a:effectLst/>
                          <a:uFillTx/>
                          <a:latin typeface="Calibri"/>
                          <a:ea typeface="Calibri"/>
                        </a:rPr>
                        <a:t>Rebre la petició de reserva, cridar el model</a:t>
                      </a:r>
                      <a:endParaRPr b="0" lang="ca-ES" sz="2320" strike="noStrike" u="none">
                        <a:solidFill>
                          <a:srgbClr val="000000"/>
                        </a:solidFill>
                        <a:effectLst/>
                        <a:uFillTx/>
                        <a:latin typeface="Arial"/>
                      </a:endParaRPr>
                    </a:p>
                    <a:p>
                      <a:pPr>
                        <a:lnSpc>
                          <a:spcPct val="100000"/>
                        </a:lnSpc>
                      </a:pPr>
                      <a:r>
                        <a:rPr b="0" lang="ca-ES" sz="2320" strike="noStrike" u="none">
                          <a:solidFill>
                            <a:srgbClr val="101010"/>
                          </a:solidFill>
                          <a:effectLst/>
                          <a:uFillTx/>
                          <a:latin typeface="Calibri"/>
                          <a:ea typeface="Calibri"/>
                        </a:rPr>
                        <a:t>i preparar la resposta.</a:t>
                      </a:r>
                      <a:endParaRPr b="0" lang="ca-ES" sz="2320" strike="noStrike" u="none">
                        <a:solidFill>
                          <a:srgbClr val="000000"/>
                        </a:solidFill>
                        <a:effectLst/>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99" name=""/>
          <p:cNvSpPr/>
          <p:nvPr/>
        </p:nvSpPr>
        <p:spPr>
          <a:xfrm>
            <a:off x="704880" y="5943600"/>
            <a:ext cx="107438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ca-ES" sz="2100" strike="noStrike" u="none">
                <a:solidFill>
                  <a:srgbClr val="39639d"/>
                </a:solidFill>
                <a:effectLst/>
                <a:uFillTx/>
                <a:latin typeface="Calibri"/>
                <a:ea typeface="Calibri"/>
              </a:rPr>
              <a:t>On posaríeu la regla «un lector pot tenir com a màxim 3 reserves»?</a:t>
            </a:r>
            <a:endParaRPr b="0" lang="ca-E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pitchFamily="0" charset="1"/>
        <a:ea typeface="Calibri Light" pitchFamily="0" charset="1"/>
        <a:cs typeface="Calibri Light" pitchFamily="0" charset="1"/>
      </a:majorFont>
      <a:minorFont>
        <a:latin typeface="Calibri" pitchFamily="0" charset="1"/>
        <a:ea typeface="Calibri" pitchFamily="0" charset="1"/>
        <a:cs typeface="Calibri"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15</TotalTime>
  <Application>LibreOffice/25.2.7.2$Windows_X86_64 LibreOffice_project/5cbfd1ab6520636bb5f7b99185aa69bd7456825d</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2026-10-05T10:51:05Z</dcterms:created>
  <dc:creator>Walnut Exporter</dc:creator>
  <dc:description/>
  <dc:language>ca-ES</dc:language>
  <cp:lastModifiedBy/>
  <dcterms:modified xsi:type="dcterms:W3CDTF">2026-10-06T10:40:25Z</dcterms:modified>
  <cp:revision>5</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
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7AF23CD-8429-44D7-8FE2-6949AFF9DA93}" type="slidenum"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1 minut. Sessió completa de 120 minuts, inclosa una pausa de 5 minuts. Presentar el fil conductor: el préstec de material. Donar temps per pensar abans de mostrar cada resolució.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Font: C:/Users/34601/Downloads/RA1 - A1 - Desenvolupament de SW (2026-2027).pptx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3–5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Recollir dubtes reals: permisos, dates, límit de préstecs, cancel·lacions i avaries. No resoldre encara totes les qüestions. Aquest cas connecta els blocs del repàs.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7-8,38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diapositiva següent mostra una possible concreció dels requisits.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1 minut. Temps de classe: 5–6 minuts. Resposta orientativa a què cal aclarir abans de programar. Les condicions pendents s’han d’acordar amb el client. No donar per definit un termini que el cas no especifica. Font: temari RA1, diapositiva 38.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6–8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Explicar que un programa també pot contenir decisions, repeticions i concurrència. La descripció seqüencial del material és una simplificació introductòria.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7-8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4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8–11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Fer verbalitzar que els criteris són independents. Java pot ser d’alt nivell, executar bytecode en una màquina virtual i permetre orientació a objectes.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10-24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4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11–13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 material situa l’assemblador en baix i mitjà nivell en diapositives consecutives. Aclarir que necessita un assemblador per obtenir codi màquina. Evitar una classificació rígida d’aquest exemple.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12-16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4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13–16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un esquema didàctic. Les implementacions reals poden combinar compilació, interpretació i JIT. No afirmar que interpretat sempre significa una sola línia ni que sempre és més lent.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17-19,26-30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4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16–19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 llenguatge pot admetre diversos paradigmes. Relacionar objectes amb encapsulació, abstracció, herència, polimorfisme i modularitat. No presentar el paradigma com una forma d’execució.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20-24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4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4 minuts. Temps de classe: 19–23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1 minut individual, 2 en parella i 1 de posada en comú. Demanar el nom del criteri i la categoria, no només la categoria.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11-24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23–25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Una consulta SQL pot formar part d’una aplicació orientada a objectes. No cal escollir un únic criteri per descriure tot el projecte.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11-24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25–27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Distingir el cas natiu del virtual. El bytecode no és necessàriament el mateix codi intermedi intern que utilitza un compilador per optimitzar.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27-30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27–30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el sentit ampli del temari, «compilar» inclou construir l’executable. Tècnicament, l’enllaç és una etapa diferenciada de la compilació.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30-33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5 minuts. Temps de classe: 30–35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minuts per dibuixar, 2 per contrastar i 1 per escoltar una explicació. No es demana sintaxi de comandes ni coneixements avançats sobre objectes.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27-33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35–37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L’error proposat se situa en la construcció nativa. No atribuir qualsevol error d’arrencada a l’enllaç: depèn del símptoma i del moment.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17-19,27-33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5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37–39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documentació i les proves poden acompanyar diverses fases. No interpretar la llista com una prohibició de revisar feina anterior.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35-47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5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39–41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ERS: Especificació de Requeriments del Sistema. Si algú proposa tecnologia a l’anàlisi, distingir una restricció imposada d’una decisió de disseny.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38-41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5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41–44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 manual d’usuari i la documentació tècnica tenen destinataris diferents. La documentació també facilita la continuïtat del projecte quan canvia l’equip.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43-47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5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5 minuts. Temps de classe: 44–49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Assignar una evidència a cada parella i fer que una altra parella validi el raonament. Acceptar que hi ha relacions entre fases, però demanar-ne la principal.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38-47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5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49–52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implementació del nou avís inclou al seu torn anàlisi, disseny, codificació, proves i documentació.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38-47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52–55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Una persona pot assumir diversos rols. Cal associar-los a responsabilitats, sense convertir-los en caixes rígides o atribuir totes les decisions a una sola figura.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49-55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55–57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Una interfície agradable no garanteix una regla de negoci correcta. El testing d’usuari i les proves de codi aporten evidències complementàries.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50,52,54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4 minuts. Temps de classe: 57–61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Repartir els cinc casos entre grups. Demanar responsabilitat principal i una col·laboració possible. Evitar una sola resposta rígida si la justificació és correcta.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49-55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61–64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Recordar que detectar, comunicar, corregir i validar són actuacions diferents.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49-55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69–71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Evitar «cascada mai permet canvis» i «àgil no necessita planificació». Scrum és un marc iteratiu i incremental.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35-47,57-59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6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71–74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Identificar usuari, objectiu i benefici a la història. Les tasques poden ser visuals, de lògica, de dades o de proves.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62-69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6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5 minuts. Temps de classe: 74–79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minuts per redactar i 3 per contrastar. No exigir una única redacció. Comprovar que la història no es limita a «crear una taula» o una altra feina tècnica.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63-69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6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79–82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data de demà és una hipòtesi acordada per a aquest exemple, no un requisit aportat al cas inicial. Distingir tasca i criteri d’acceptació.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63-69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6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82–85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addicional: https://scrumguides.org/scrum-guide.html#the-sprint . No allargar el sprint fins que tot estigui acabat. Els elements pendents es revisen i reordenen, no entren automàticament al següent sprint.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59,70,75,81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6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85–87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mètode: diapositiva 74 del temari. Scrum no prescriu aquesta fórmula ni les hores com a única unitat. No assignar una tasca com a penalització a qui estima menys.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72-75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94–96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Aquest és el flux utilitzat a les pràctiques. Els noms de les columnes poden variar. No són columnes obligatòries del marc Scrum.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76-79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4 minuts. Temps de classe: 96–100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Treballar el flux complet, no només el canvi de columna. Demanar passos per reproduir, resultat esperat i observat.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79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100–102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 aquest flux, es demana una persona diferent per a la validació. La responsabilitat d’assolir la qualitat correspon al conjunt de l’equip.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79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6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102–105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Daily oficial té un límit de 15 minuts. El temari exemplifica reunions més curtes. Font addicional: https://scrumguides.org/scrum-guide.html 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70,80-81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sldNum" idx="6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1 minuts. Temps de classe: 105–106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Repàs breu de les famílies del temari. No demanar noms de patrons concrets que no s’hagin treballat.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84-85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sldNum" idx="7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1 minuts. Temps de classe: 106–107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Corregir el lapsus del temari: negoci es comunica amb presentació i dades. Les capes i MVC són formes d’organització relacionades, però no una equivalència literal de tres peces.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86-87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sldNum" idx="7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107–109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addicional: https://learn.microsoft.com/en-us/aspnet/core/mvc/overview . El flux concret pot variar segons el framework. No reduir el model a la base de dades.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88-89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3"/>
          <p:cNvSpPr>
            <a:spLocks noGrp="1"/>
          </p:cNvSpPr>
          <p:nvPr>
            <p:ph type="sldNum" idx="7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3 minuts. Temps de classe: 109–112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Demanar una explicació causal del recorregut, sense format d’opcions. La restricció de negoci s’ha de conservar encara que canviï la pantalla.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88-89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3"/>
          <p:cNvSpPr>
            <a:spLocks noGrp="1"/>
          </p:cNvSpPr>
          <p:nvPr>
            <p:ph type="sldNum" idx="7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Durada: 2 minuts. Temps de classe: 112–114 minuts.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afirmar que tota comprovació existeix només al client. Les regles del domini han de mantenir-se encara que una petició arribi per una altra interfície.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Font del temari: C:/Users/34601/Downloads/RA1 - A1 - Desenvolupament de SW (2026-2027).pptx, diapositives 88-89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sldNum" idx="7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p>
            <a:pPr indent="0">
              <a:buNone/>
            </a:pPr>
            <a:endParaRPr b="0" lang="ca-E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92;p77"/>
          <p:cNvSpPr/>
          <p:nvPr/>
        </p:nvSpPr>
        <p:spPr>
          <a:xfrm>
            <a:off x="10095480" y="0"/>
            <a:ext cx="2096280" cy="685764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 rot="5400000">
            <a:off x="8219880" y="2361240"/>
            <a:ext cx="5811480" cy="181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 rot="5400000">
            <a:off x="1800000" y="-596160"/>
            <a:ext cx="5811480" cy="773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A6C0B3-2F38-404F-9BE2-2710534B7ACF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Google Shape;98;p77"/>
          <p:cNvSpPr/>
          <p:nvPr/>
        </p:nvSpPr>
        <p:spPr>
          <a:xfrm>
            <a:off x="10095480" y="0"/>
            <a:ext cx="2096280" cy="685764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6;p67"/>
          <p:cNvSpPr/>
          <p:nvPr/>
        </p:nvSpPr>
        <p:spPr>
          <a:xfrm>
            <a:off x="0" y="0"/>
            <a:ext cx="12191760" cy="486612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8080" y="2061000"/>
            <a:ext cx="105152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5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98A112-5D15-4BE5-900D-F64634DD9258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Google Shape;22;p67"/>
          <p:cNvSpPr/>
          <p:nvPr/>
        </p:nvSpPr>
        <p:spPr>
          <a:xfrm>
            <a:off x="0" y="0"/>
            <a:ext cx="12191760" cy="486612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ftr" idx="8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9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DA7368-9D66-442E-9196-D74FDD98B1CC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84;p76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74384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 rot="5400000">
            <a:off x="3920400" y="-1256400"/>
            <a:ext cx="4350960" cy="1051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ftr" idx="11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9CC0C97-36ED-4FD9-889F-041D50199A4A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Google Shape;90;p76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839880" y="2101680"/>
            <a:ext cx="3931920" cy="37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4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5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19111CE-EA14-4388-B52F-AE8E25699C71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9;p70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74384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F858DB7-FFDA-4856-B3FF-C3175C4835D1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Google Shape;46;p70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48;p71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73736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831960" y="1488960"/>
            <a:ext cx="5155920" cy="64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831960" y="2193840"/>
            <a:ext cx="5155920" cy="397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body"/>
          </p:nvPr>
        </p:nvSpPr>
        <p:spPr>
          <a:xfrm>
            <a:off x="6189840" y="1488960"/>
            <a:ext cx="5157360" cy="641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189840" y="2193840"/>
            <a:ext cx="5157360" cy="397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 type="ftr" idx="20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8"/>
          <p:cNvSpPr>
            <a:spLocks noGrp="1"/>
          </p:cNvSpPr>
          <p:nvPr>
            <p:ph type="sldNum" idx="21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33EBF5-372E-4D4A-8170-DC0C9235DD90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Google Shape;57;p71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24;p68"/>
          <p:cNvSpPr/>
          <p:nvPr/>
        </p:nvSpPr>
        <p:spPr>
          <a:xfrm>
            <a:off x="5657040" y="1709640"/>
            <a:ext cx="6534720" cy="357480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38080" y="2402280"/>
            <a:ext cx="4508280" cy="21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r>
              <a:rPr b="0" lang="ca-E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323400" y="2402280"/>
            <a:ext cx="5268960" cy="2187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3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4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8753ED-E390-4150-9A9F-90921C224DC6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Google Shape;30;p68"/>
          <p:cNvSpPr/>
          <p:nvPr/>
        </p:nvSpPr>
        <p:spPr>
          <a:xfrm>
            <a:off x="5657040" y="706680"/>
            <a:ext cx="6534720" cy="50151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objeto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32;p69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4440" y="0"/>
            <a:ext cx="10748880" cy="120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6159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26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27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472108-8DA9-423D-BD9D-0EB5BCF69D84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839880" y="2101680"/>
            <a:ext cx="3931920" cy="37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a-ES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ca-E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29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0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888A2A-03ED-4D94-997F-9E40E144FC9F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59;p72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09480" y="0"/>
            <a:ext cx="10743840" cy="122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b="0" lang="ca-E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ca-E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32"/>
          </p:nvPr>
        </p:nvSpPr>
        <p:spPr>
          <a:xfrm>
            <a:off x="464832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a-E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b="0" lang="ca-E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33"/>
          </p:nvPr>
        </p:nvSpPr>
        <p:spPr>
          <a:xfrm>
            <a:off x="8077320" y="6356520"/>
            <a:ext cx="3276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7B7DD2-C40E-4A6D-B123-4B332614AF9F}" type="slidenum">
              <a:rPr b="0" lang="ca-ES" sz="1200" strike="noStrike" u="none">
                <a:solidFill>
                  <a:srgbClr val="888888"/>
                </a:solidFill>
                <a:effectLst/>
                <a:uFillTx/>
                <a:latin typeface="Quattrocento Sans"/>
                <a:ea typeface="Quattrocento Sans"/>
              </a:rPr>
              <a:t>&lt;número&gt;</a:t>
            </a:fld>
            <a:endParaRPr b="0" lang="ca-E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Google Shape;64;p72"/>
          <p:cNvSpPr/>
          <p:nvPr/>
        </p:nvSpPr>
        <p:spPr>
          <a:xfrm>
            <a:off x="0" y="0"/>
            <a:ext cx="12191760" cy="1332360"/>
          </a:xfrm>
          <a:prstGeom prst="rect">
            <a:avLst/>
          </a:prstGeom>
          <a:solidFill>
            <a:srgbClr val="d247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ca-E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86280" y="2061000"/>
            <a:ext cx="1141020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ca-ES" sz="5400" strike="noStrike" u="none">
                <a:solidFill>
                  <a:schemeClr val="lt1"/>
                </a:solidFill>
                <a:effectLst/>
                <a:uFillTx/>
                <a:latin typeface="Quattrocento Sans"/>
                <a:ea typeface="Quattrocento Sans"/>
              </a:rPr>
              <a:t>RA1 · Repàs de desenvolupament</a:t>
            </a:r>
            <a:endParaRPr b="0" lang="ca-ES" sz="5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838080" y="5110560"/>
            <a:ext cx="7674480" cy="1137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ca-ES" sz="2400" strike="noStrike" u="none">
                <a:solidFill>
                  <a:schemeClr val="dk1"/>
                </a:solidFill>
                <a:effectLst/>
                <a:uFillTx/>
                <a:latin typeface="Quattrocento Sans"/>
                <a:ea typeface="Quattrocento Sans"/>
              </a:rPr>
              <a:t>Conceptes clau i casos pràctics</a:t>
            </a:r>
            <a:endParaRPr b="0" lang="ca-E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Google Shape;106;p1" descr=""/>
          <p:cNvPicPr/>
          <p:nvPr/>
        </p:nvPicPr>
        <p:blipFill>
          <a:blip r:embed="rId1"/>
          <a:stretch/>
        </p:blipFill>
        <p:spPr>
          <a:xfrm>
            <a:off x="10375920" y="5046840"/>
            <a:ext cx="1628280" cy="163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Google Shape;107;p1" descr=""/>
          <p:cNvPicPr/>
          <p:nvPr/>
        </p:nvPicPr>
        <p:blipFill>
          <a:blip r:embed="rId2"/>
          <a:stretch/>
        </p:blipFill>
        <p:spPr>
          <a:xfrm>
            <a:off x="7201440" y="4905720"/>
            <a:ext cx="2877120" cy="1919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Un servei de préstec de material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723960" y="1724040"/>
            <a:ext cx="10743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55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L’institut vol gestionar el préstec de càmeres i micròfons.</a:t>
            </a:r>
            <a:endParaRPr b="0" lang="ca-E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23960" y="2590920"/>
            <a:ext cx="10715400" cy="8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L’alumnat consulta disponibilitat i reserva material.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723960" y="3645000"/>
            <a:ext cx="10715400" cy="8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Consergeria registra recollides i devolucions.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23960" y="4699080"/>
            <a:ext cx="10715400" cy="8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El sistema evita dues reserves incompatibles.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Què hauríem d’aclarir abans de començar a programar?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Solució inicial: requisits per concretar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" name=""/>
          <p:cNvGraphicFramePr/>
          <p:nvPr/>
        </p:nvGraphicFramePr>
        <p:xfrm>
          <a:off x="723960" y="1724040"/>
          <a:ext cx="10743840" cy="3942000"/>
        </p:xfrm>
        <a:graphic>
          <a:graphicData uri="http://schemas.openxmlformats.org/drawingml/2006/table">
            <a:tbl>
              <a:tblPr/>
              <a:tblGrid>
                <a:gridCol w="2666880"/>
                <a:gridCol w="8076960"/>
              </a:tblGrid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Aspecte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Una possible concreció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Permisos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L’alumnat reserva i consergeria registra recollides i devolucions.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Terminis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El client acorda un màxim de dies i les condicions per ampliar-lo.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Disponibilitat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El sistema rebutja reserves del mateix material que se solapen.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Cancel·lacions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Cal definir fins quan es poden cancel·lar i quan s’allibera el material.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Incidències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Cal acordar què passa amb els retards, els danys i les avaries.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L’analista concreta aquestes regles amb el client i les recull com a requisits.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4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Programa, codi i sistema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5" name=""/>
          <p:cNvGraphicFramePr/>
          <p:nvPr/>
        </p:nvGraphicFramePr>
        <p:xfrm>
          <a:off x="723960" y="1724040"/>
          <a:ext cx="10743840" cy="338112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Concepte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Aplicació al cas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Programa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Instruccions que permeten consultar i reservar material.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Codi font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Text que escriu l’equip en un llenguatge de programació.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Software de sistema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El sistema operatiu gestiona els recursos de l’ordinador.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Software d’aplicació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L’aplicació de préstec resol una necessitat concreta.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5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Tres criteris de classificació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"/>
          <p:cNvGraphicFramePr/>
          <p:nvPr/>
        </p:nvGraphicFramePr>
        <p:xfrm>
          <a:off x="723960" y="1724040"/>
          <a:ext cx="10743840" cy="3142800"/>
        </p:xfrm>
        <a:graphic>
          <a:graphicData uri="http://schemas.openxmlformats.org/drawingml/2006/table">
            <a:tbl>
              <a:tblPr/>
              <a:tblGrid>
                <a:gridCol w="2333520"/>
                <a:gridCol w="5219640"/>
                <a:gridCol w="3190680"/>
              </a:tblGrid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Criteri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Aspecte descrit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Categories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Abstracció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La proximitat al funcionament de la màquina.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Baix, mitjà i alt nivell.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Execució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 arriba el programa a executar-se.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Compilat, interpretat o amb màquina virtual.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Paradigma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 organitzem la solució.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Imperatiu, declaratiu, objectes…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Un mateix llenguatge es pot descriure amb els tres criteris.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6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Abstracció i eines de programació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723960" y="172404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Baix nivell: molta proximitat a les instruccions i recursos de la màquina.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723960" y="273132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Alt nivell: més abstraccions per expressar problemes i treballar amb dades.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723960" y="373860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Nivell mitjà: categoria intermèdia segons la classificació utilitzada.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723960" y="474588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Una llibreria aporta codi reutilitzable. 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 framework també proposa estructura i convencions.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Més abstracció facilita expressar la solució, però amaga detalls.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7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Tres maneres d’executar codi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9" name=""/>
          <p:cNvGraphicFramePr/>
          <p:nvPr/>
        </p:nvGraphicFramePr>
        <p:xfrm>
          <a:off x="723960" y="1724040"/>
          <a:ext cx="10743840" cy="3371760"/>
        </p:xfrm>
        <a:graphic>
          <a:graphicData uri="http://schemas.openxmlformats.org/drawingml/2006/table">
            <a:tbl>
              <a:tblPr/>
              <a:tblGrid>
                <a:gridCol w="2333520"/>
                <a:gridCol w="5219640"/>
                <a:gridCol w="3190680"/>
              </a:tblGrid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Via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Procés bàsic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Entorn necessari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Compilació nativa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El compilador genera objecte i l’enllaçador construeix l’executable.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Un executable compatible amb la plataforma.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Interpretació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Un intèrpret processa el programa durant l’execució.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L’intèrpret o entorn corresponent.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Màquina virtual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Un compilador genera bytecode que executa una màquina virtual.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Una màquina virtual compatible.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0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La portabilitat depèn de disposar de l’entorn adequat.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8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Paradigmes i manera de pensar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3" name=""/>
          <p:cNvGraphicFramePr/>
          <p:nvPr/>
        </p:nvGraphicFramePr>
        <p:xfrm>
          <a:off x="723960" y="1724040"/>
          <a:ext cx="10743840" cy="4136760"/>
        </p:xfrm>
        <a:graphic>
          <a:graphicData uri="http://schemas.openxmlformats.org/drawingml/2006/table">
            <a:tbl>
              <a:tblPr/>
              <a:tblGrid>
                <a:gridCol w="2333520"/>
                <a:gridCol w="5219640"/>
                <a:gridCol w="3190680"/>
              </a:tblGrid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Paradigma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Idea principal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Exemple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Imperatiu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Indicar passos i canvis d’estat.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Declaratiu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Expressar el resultat o les condicions.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SQL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Procedimental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Organitzar el codi en procediments.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Pascal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Objectes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Agrupar dades i operacions en objectes.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Java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Funcional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Compondre funcions i limitar estat mutable.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Haskell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Lògic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Descriure fets i regles per obtenir conclusions.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Prolog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4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9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Repte 1: quatre afirmacions barrejades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723960" y="2085840"/>
            <a:ext cx="10715400" cy="73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«Aquest programa descriu classes Material i Reserva.»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723960" y="3002760"/>
            <a:ext cx="10715400" cy="73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«Aquest entorn necessita una màquina virtual.»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723960" y="3919680"/>
            <a:ext cx="10715400" cy="73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«Aquest llenguatge facilita escriure operacions comprensibles per a les persones.»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723960" y="4836240"/>
            <a:ext cx="10715400" cy="73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«Aquest programa consulta dades indicant les condicions del resultat.»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En parelles: quin criteri descriu cada frase? Poden coincidir en un mateix projecte?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10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Solució del repte 1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3" name=""/>
          <p:cNvGraphicFramePr/>
          <p:nvPr/>
        </p:nvGraphicFramePr>
        <p:xfrm>
          <a:off x="723960" y="1724040"/>
          <a:ext cx="10743840" cy="344304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Pista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Criteri i categoria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Classes Material i Reserva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Paradigma orientat a objectes.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Màquina virtual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Forma d’execució amb bytecode i entorn compatible.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Operacions més properes a les persones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Nivell d’abstracció alt.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Condicions del resultat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Paradigma declaratiu.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4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Una aplicació pot combinar diversos llenguatges i paradigmes.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11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Els resultats del procés de traducció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7" name=""/>
          <p:cNvGraphicFramePr/>
          <p:nvPr/>
        </p:nvGraphicFramePr>
        <p:xfrm>
          <a:off x="723960" y="1724040"/>
          <a:ext cx="10743840" cy="379080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Element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Significat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Codi font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El programa que escriu l’equip.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Codi objecte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Resultat de la compilació, pendent de l’enllaç que calgui.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Llibreries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Codi reutilitzable que el programa necessita.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Executable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Resultat preparat per executar-se en la plataforma prevista.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Bytecode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Instruccions intermèdies per a una màquina virtual.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8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12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La construcció d’un executable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0" name=""/>
          <p:cNvGraphicFramePr/>
          <p:nvPr/>
        </p:nvGraphicFramePr>
        <p:xfrm>
          <a:off x="723960" y="1724040"/>
          <a:ext cx="10743840" cy="422640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Pas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Funció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1. Anàlisi lèxica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Reconèixer paraules, símbols i operadors.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2. Anàlisi sintàctica i semàntica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Comprovar estructura, significat i ús dels tipus.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3. Codi intermedi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Representar el programa per continuar-ne el processament.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4. Optimització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Millorar el codi sense canviar el comportament previst.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5. Generació de codi objecte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Produir el codi de destinació.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6. Enllaç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Resoldre referències i incorporar les llibreries necessàries.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13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Repte 2: el programa encara no arrenca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723960" y="2085840"/>
            <a:ext cx="10743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55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L’equip ha generat reserva.o, però la construcció falla perquè no troba una funció de la llibreria de dates.</a:t>
            </a:r>
            <a:endParaRPr b="0" lang="ca-E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723960" y="315288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Quina feina ja s’ha fet?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723960" y="401940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Què queda per resoldre abans de tenir l’executable?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/>
          <p:nvPr/>
        </p:nvSpPr>
        <p:spPr>
          <a:xfrm>
            <a:off x="723960" y="488628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Com canviaria la situació si haguéssim generat bytecode?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Dibuixeu el recorregut i situeu-hi el problema.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14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Solució del repte 2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723960" y="172404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El compilador ja ha produït el fitxer objecte reserva.o.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723960" y="273132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L’enllaçador ha de trobar la funció i resoldre la dependència de la llibreria.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723960" y="373860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 fitxer objecte no és necessàriament un programa executable complet.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723960" y="474588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Amb bytecode cal una màquina virtual compatible i les dependències corresponents.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Cal distingir el producte obtingut de l’eina que el processa.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15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El cicle de vida del programari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7" name=""/>
          <p:cNvGraphicFramePr/>
          <p:nvPr/>
        </p:nvGraphicFramePr>
        <p:xfrm>
          <a:off x="723960" y="1724040"/>
          <a:ext cx="10743840" cy="404784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Fase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Resultat principal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Anàlisi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Necessitats i requisits acordats.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Disseny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Estructura, dades, interaccions i recursos.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Codificació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Implementació en codi font.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Proves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Evidències que el sistema respon com s’espera.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Documentació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Informació per utilitzar i mantenir el sistema.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81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Explotació i manteniment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Posada en servei, correccions i evolució.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8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16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Anàlisi i disseny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0" name=""/>
          <p:cNvGraphicFramePr/>
          <p:nvPr/>
        </p:nvGraphicFramePr>
        <p:xfrm>
          <a:off x="723960" y="1724040"/>
          <a:ext cx="10743840" cy="3142800"/>
        </p:xfrm>
        <a:graphic>
          <a:graphicData uri="http://schemas.openxmlformats.org/drawingml/2006/table">
            <a:tbl>
              <a:tblPr/>
              <a:tblGrid>
                <a:gridCol w="5371920"/>
                <a:gridCol w="5371920"/>
              </a:tblGrid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Anàlisi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Disseny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Necessitats que ha de satisfer el sistema.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Organització de la solució.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Persones autoritzades i durada dels préstecs.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Pantalles, mòduls i estructures de dades.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Requisits recollits.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Decisions recollides al quadern de càrrega.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1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Un requisit explica què s’ha de complir. El disseny concreta com ho resoldrem.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17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Proves, documentació i manteniment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4" name=""/>
          <p:cNvGraphicFramePr/>
          <p:nvPr/>
        </p:nvGraphicFramePr>
        <p:xfrm>
          <a:off x="723960" y="1724040"/>
          <a:ext cx="10743840" cy="379080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Treball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Exemple del servei de préstec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Proves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Intentar reservar un material que ja està ocupat.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Manual d’usuari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Explicar com cancel·lar una reserva.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Documentació tècnica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Descriure les dades i les regles de disponibilitat.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Explotació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Preparar l’entorn i posar el servei en funcionament.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Manteniment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Corregir una errada o afegir una nova necessitat.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5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18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Repte 3: evidències d’un projecte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/>
          <p:nvPr/>
        </p:nvSpPr>
        <p:spPr>
          <a:xfrm>
            <a:off x="723960" y="208584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Una entrevista fixa el límit de dies de préstec.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723960" y="281952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 document descriu taules, relacions i mòduls.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723960" y="355284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Una guia mostra com retornar una càmera.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723960" y="428616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 informe recull una reserva duplicada durant les proves.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723960" y="501984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Després de l’estrena, s’afegeix un avís de retard.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Relacioneu cada evidència amb una fase i expliqueu per què.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19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Solució del repte 3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" name=""/>
          <p:cNvGraphicFramePr/>
          <p:nvPr/>
        </p:nvGraphicFramePr>
        <p:xfrm>
          <a:off x="723960" y="1724040"/>
          <a:ext cx="10743840" cy="3970800"/>
        </p:xfrm>
        <a:graphic>
          <a:graphicData uri="http://schemas.openxmlformats.org/drawingml/2006/table">
            <a:tbl>
              <a:tblPr/>
              <a:tblGrid>
                <a:gridCol w="2333520"/>
                <a:gridCol w="5219640"/>
                <a:gridCol w="3190680"/>
              </a:tblGrid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Evidència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Fase principal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Raó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Límit de dies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Anàlisi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Concreta una necessitat del client.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Taules i mòduls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Disseny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Defineix l’estructura de la solució.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Guia de devolució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Documentació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Ajuda l’usuari a operar el sistema.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Reserva duplicada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Proves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Compara resultat esperat i observat.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Nou avís de retard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Manteniment evolutiu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Amplia el servei després de la posada en marxa.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6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20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Rols: necessitats i coordinació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8" name=""/>
          <p:cNvGraphicFramePr/>
          <p:nvPr/>
        </p:nvGraphicFramePr>
        <p:xfrm>
          <a:off x="723960" y="1724040"/>
          <a:ext cx="10743840" cy="379080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Rol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Responsabilitat principal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Analista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Entendre el client i concretar necessitats.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Analista de sistemes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Estudiar el sistema i l’adequació als requisits.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Arquitecte de software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Definir l’estructura global i valorar dependències.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Team leader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Coordinar l’equip de desenvolupament i donar-hi suport.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Cap de departament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Coordinar el departament i la relació amb altres àrees.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9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21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Rols: construcció i validació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1" name=""/>
          <p:cNvGraphicFramePr/>
          <p:nvPr/>
        </p:nvGraphicFramePr>
        <p:xfrm>
          <a:off x="723960" y="1724040"/>
          <a:ext cx="10743840" cy="379080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Rol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Responsabilitat principal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Analista programador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Connectar el disseny global amb la implementació.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Programador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Escriure i mantenir el codi font.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Dissenyador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Treballar la interfície i la usabilitat.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Tester a nivell d’usuari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Comprovar comportaments segons els requisits.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Tester a nivell de codi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Crear proves automatitzades de les funcions.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2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22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Repte 4: una reunió amb cinc problemes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723960" y="208584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El client diu que «reservar hauria de ser més fàcil», però no concreta què falla.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723960" y="281952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Una modificació afecta molts mòduls.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723960" y="355284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Dos desenvolupadors estan bloquejats i necessiten suport.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23960" y="428616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Les persones no troben el botó de cancel·lació.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723960" y="5019840"/>
            <a:ext cx="10715400" cy="55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Una prova mostra que un usuari pot tenir dues reserves incompatibles.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Qui hauria de liderar cada actuació? Amb qui col·laboraria?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23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Solució del repte 4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2" name=""/>
          <p:cNvGraphicFramePr/>
          <p:nvPr/>
        </p:nvGraphicFramePr>
        <p:xfrm>
          <a:off x="723960" y="1724040"/>
          <a:ext cx="10743840" cy="3970800"/>
        </p:xfrm>
        <a:graphic>
          <a:graphicData uri="http://schemas.openxmlformats.org/drawingml/2006/table">
            <a:tbl>
              <a:tblPr/>
              <a:tblGrid>
                <a:gridCol w="2333520"/>
                <a:gridCol w="5219640"/>
                <a:gridCol w="3190680"/>
              </a:tblGrid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Problema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Rol principal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02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Col·laboració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Necessitat poc concreta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Analista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Client i persones usuàries.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Canvi amb moltes dependències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Arquitecte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Analista programador i equip.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Equip bloquejat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Team leader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Desenvolupadors i especialistes.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Botó difícil de trobar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Dissenyador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Usuaris i testers.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Reserva incompatible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Tester detecta i documenta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02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Programador corregeix i es torna a provar.</a:t>
                      </a:r>
                      <a:endParaRPr b="0" lang="ca-ES" sz="202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3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24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Cascada i treball iteratiu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5" name=""/>
          <p:cNvGraphicFramePr/>
          <p:nvPr/>
        </p:nvGraphicFramePr>
        <p:xfrm>
          <a:off x="723960" y="1724040"/>
          <a:ext cx="10743840" cy="3142800"/>
        </p:xfrm>
        <a:graphic>
          <a:graphicData uri="http://schemas.openxmlformats.org/drawingml/2006/table">
            <a:tbl>
              <a:tblPr/>
              <a:tblGrid>
                <a:gridCol w="5371920"/>
                <a:gridCol w="5371920"/>
              </a:tblGrid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Cascada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Enfocament àgil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Planifica les fases i els lliuraments.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Treballa amb cicles curts i retorn freqüent.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Encaixa millor amb requisits estables.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Facilita adaptar-se a necessitats que evolucionen.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Els canvis tardans poden implicar molta revisió.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Cada cicle permet comprovar i ajustar el producte.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6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El context del projecte determina els costos i els avantatges.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26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Èpica, User Story i tasca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89" name=""/>
          <p:cNvGraphicFramePr/>
          <p:nvPr/>
        </p:nvGraphicFramePr>
        <p:xfrm>
          <a:off x="723960" y="1724040"/>
          <a:ext cx="10743840" cy="314280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Nivell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Exemple nou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Èpica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Gestió dels préstecs de material.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User Story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 a alumna, vull allargar un préstec per acabar el meu projecte.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Tasques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Dissenyar el formulari, comprovar disponibilitat, desar la nova data i provar conflictes.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0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La història expressa valor per a algú. Les tasques concreten la feina.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27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Repte 5: una història útil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723960" y="2085840"/>
            <a:ext cx="10743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55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Consergeria vol avisar l’alumnat quan s’apropa la data de devolució.</a:t>
            </a:r>
            <a:endParaRPr b="0" lang="ca-E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723960" y="2952720"/>
            <a:ext cx="1071540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Proposeu una èpica que inclogui aquesta necessitat.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23960" y="3886200"/>
            <a:ext cx="1071540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Redacteu una User Story amb usuari, objectiu i motiu.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723960" y="4819680"/>
            <a:ext cx="10715400" cy="75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Desglosseu-la en quatre tasques, incloent-hi una prova.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Prepareu també una condició que permeti comprovar que funciona.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28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Solució del repte 5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723960" y="1724040"/>
            <a:ext cx="10743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55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Èpica: seguiment dels préstecs</a:t>
            </a:r>
            <a:endParaRPr b="0" lang="ca-E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/>
          <p:nvPr/>
        </p:nvSpPr>
        <p:spPr>
          <a:xfrm>
            <a:off x="723960" y="2590920"/>
            <a:ext cx="10715400" cy="8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Història: com a alumna, vull rebre un recordatori abans de la devolució per retornar el material a temps.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723960" y="3645000"/>
            <a:ext cx="10715400" cy="8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Tasques: definir quan avisar, consultar venciments, enviar l’avís i provar-ne l’enviament.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723960" y="4699080"/>
            <a:ext cx="10715400" cy="87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Criteri acordat: un préstec pendent que venç demà genera un únic recordatori.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Si el material ja s’ha retornat, el sistema ha d’evitar l’avís.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29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Sprint i planificació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723960" y="172404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El sprint té un objectiu i una durada fixada abans de començar.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723960" y="273132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L’equip selecciona feina segons prioritats i capacitat.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723960" y="373860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El backlog del producte recull feina pendent. El del sprint concreta la selecció i el pla.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723960" y="474588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En arribar a la data final, es revisa el resultat i es replanteja la feina pendent.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30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Estimació i capacitat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"/>
          <p:cNvSpPr/>
          <p:nvPr/>
        </p:nvSpPr>
        <p:spPr>
          <a:xfrm>
            <a:off x="723960" y="172404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Primer cal entendre la tasca i aclarir-ne els dubtes.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723960" y="273132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Cada persona estima abans de veure les altres estimacions.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723960" y="373860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Les diferències poden revelar feina o riscos que no havíem previst.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31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El tauler i l’estat real de la feina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8" name=""/>
          <p:cNvGraphicFramePr/>
          <p:nvPr/>
        </p:nvGraphicFramePr>
        <p:xfrm>
          <a:off x="723960" y="1724040"/>
          <a:ext cx="10743840" cy="402840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Columna del nostre flux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Significat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To do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Feina pendent de començar.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En desenvolupament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Hi ha una persona treballant-hi.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 punt per testing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La implementació està preparada per revisar.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En testing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Una altra persona comprova els requisits.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1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Done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La feina ha superat les comprovacions acordades.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9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34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Repte 6: la devolució sembla acabada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723960" y="2085840"/>
            <a:ext cx="10743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25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La targeta «Registrar devolució» és a En testing. Una prova mostra que el material retornat continua apareixent com a ocupat.</a:t>
            </a:r>
            <a:endParaRPr b="0" lang="ca-ES" sz="2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723960" y="315288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Què ha de passar amb la targeta i amb la incidència?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"/>
          <p:cNvSpPr/>
          <p:nvPr/>
        </p:nvSpPr>
        <p:spPr>
          <a:xfrm>
            <a:off x="723960" y="401940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Quina informació necessita qui farà la correcció?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723960" y="488628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Què cal comprovar abans de donar la feina per acabada?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Descriviu una seqüència d’actuacions amb responsables.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35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Solució del repte 6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723960" y="172404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La persona que prova registra els passos, el resultat esperat i l’error observat.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723960" y="273132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Retorna la targeta a En desenvolupament i avisa la persona responsable.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723960" y="373860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Després de corregir, la targeta torna al circuit de testing.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723960" y="474588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La revisió confirma la correcció i comprova que no s’han trencat altres comportaments.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Done significa que compleix els criteris acordats.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36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Reunions i final del sprint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5" name=""/>
          <p:cNvGraphicFramePr/>
          <p:nvPr/>
        </p:nvGraphicFramePr>
        <p:xfrm>
          <a:off x="723960" y="1724040"/>
          <a:ext cx="10743840" cy="338112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Moment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Propòsit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Planning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Acordar objectiu, feina i pla del sprint.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Daily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Revisar el progrés i adaptar el treball immediat.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Review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Examinar el resultat amb les persones interessades.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Retrospective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Proposar millores en la manera de treballar.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6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Revisar el producte i revisar el procés tenen propòsits diferents.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37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Arquitectura i patrons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723960" y="1724040"/>
            <a:ext cx="1071540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L’arquitectura defineix l’organització global i les responsabilitats del sistema.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723960" y="3067200"/>
            <a:ext cx="1071540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Els patrons recullen solucions reutilitzables a problemes de disseny.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723960" y="4140000"/>
            <a:ext cx="10715400" cy="11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Creacionals: com es creen objectes. 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Estructurals: com es combinen. 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De comportament: com col·laboren.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Un patró orienta el disseny, però cal adaptar-lo al problema.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38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La separació en tres capes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5" name=""/>
          <p:cNvGraphicFramePr/>
          <p:nvPr/>
        </p:nvGraphicFramePr>
        <p:xfrm>
          <a:off x="723960" y="1724040"/>
          <a:ext cx="10743840" cy="3142800"/>
        </p:xfrm>
        <a:graphic>
          <a:graphicData uri="http://schemas.openxmlformats.org/drawingml/2006/table">
            <a:tbl>
              <a:tblPr/>
              <a:tblGrid>
                <a:gridCol w="3143160"/>
                <a:gridCol w="7600680"/>
              </a:tblGrid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Capa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Responsabilitat en el cas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Presentació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Mostra el formulari i la disponibilitat a l’usuari.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Negoci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Aplica les regles del préstec i de compatibilitat.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Dades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Consulta i desa la informació de materials i reserves.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6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Separar responsabilitats facilita canviar una part del sistema.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39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Model, Vista i Controlador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9" name=""/>
          <p:cNvGraphicFramePr/>
          <p:nvPr/>
        </p:nvGraphicFramePr>
        <p:xfrm>
          <a:off x="723960" y="1724040"/>
          <a:ext cx="10743840" cy="3142800"/>
        </p:xfrm>
        <a:graphic>
          <a:graphicData uri="http://schemas.openxmlformats.org/drawingml/2006/table">
            <a:tbl>
              <a:tblPr/>
              <a:tblGrid>
                <a:gridCol w="2333520"/>
                <a:gridCol w="5219640"/>
                <a:gridCol w="3190680"/>
              </a:tblGrid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Component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Responsabilitat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1" lang="ca-ES" sz="2170" strike="noStrike" u="none">
                          <a:solidFill>
                            <a:srgbClr val="39639d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Exemple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Vista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Presentar informació i controls a l’usuari.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Calendari de material disponible.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Controlador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Rebre l’acció i coordinar-ne el tractament.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Gestionar la petició d’ampliar el préstec.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5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Model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Gestionar dades i regles del domini, amb accés a persistència.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ca-ES" sz="2170" strike="noStrike" u="none">
                          <a:solidFill>
                            <a:srgbClr val="171717"/>
                          </a:solidFill>
                          <a:effectLst/>
                          <a:uFillTx/>
                          <a:latin typeface="Quattrocento Sans"/>
                          <a:ea typeface="Quattrocento Sans"/>
                        </a:rPr>
                        <a:t>Comprovar conflictes i actualitzar la reserva.</a:t>
                      </a:r>
                      <a:endParaRPr b="0" lang="ca-ES" sz="217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0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La base de dades emmagatzema. 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El model també representa regles i comportaments.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40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Repte 7: un canvi de data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723960" y="2085840"/>
            <a:ext cx="10743840" cy="9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55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Una alumna vol allargar el préstec, però una altra persona ja ha reservat el material per al dia següent.</a:t>
            </a:r>
            <a:endParaRPr b="0" lang="ca-ES" sz="2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723960" y="315288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Qui mostra el calendari i el missatge de resultat?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723960" y="401940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Qui rep la petició i coordina la resposta?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"/>
          <p:cNvSpPr/>
          <p:nvPr/>
        </p:nvSpPr>
        <p:spPr>
          <a:xfrm>
            <a:off x="723960" y="4886280"/>
            <a:ext cx="107154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On correspon comprovar la incompatibilitat?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Expliqueu el recorregut complet. 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Què canviaria si només redissenyéssim la pantalla?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41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666720" y="343080"/>
            <a:ext cx="10801080" cy="69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3300" strike="noStrike" u="none">
                <a:solidFill>
                  <a:srgbClr val="ffffff"/>
                </a:solidFill>
                <a:effectLst/>
                <a:uFillTx/>
                <a:latin typeface="Quattrocento Sans"/>
                <a:ea typeface="Quattrocento Sans"/>
              </a:rPr>
              <a:t>Solució del repte 7</a:t>
            </a:r>
            <a:endParaRPr b="0" lang="ca-E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723960" y="172404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La vista permet triar la nova data i enviar la petició.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723960" y="273132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El controlador la rep i demana al model que processi l’ampliació.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723960" y="373860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El model comprova les reserves existents i rebutja el conflicte.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723960" y="4745880"/>
            <a:ext cx="10715400" cy="82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2320" strike="noStrike" u="none">
                <a:solidFill>
                  <a:srgbClr val="171717"/>
                </a:solidFill>
                <a:effectLst/>
                <a:uFillTx/>
                <a:latin typeface="Quattrocento Sans"/>
                <a:ea typeface="Quattrocento Sans"/>
              </a:rPr>
              <a:t>La vista presenta el resultat a l’alumna.</a:t>
            </a:r>
            <a:endParaRPr b="0" lang="ca-ES" sz="23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723960" y="5943600"/>
            <a:ext cx="106200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1" lang="ca-ES" sz="2100" strike="noStrike" u="none">
                <a:solidFill>
                  <a:srgbClr val="39639d"/>
                </a:solidFill>
                <a:effectLst/>
                <a:uFillTx/>
                <a:latin typeface="Quattrocento Sans"/>
                <a:ea typeface="Quattrocento Sans"/>
              </a:rPr>
              <a:t>Un canvi visual no hauria d’obligar a reescriure la regla del préstec.</a:t>
            </a:r>
            <a:endParaRPr b="0" lang="ca-E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11572920" y="6524640"/>
            <a:ext cx="38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r>
              <a:rPr b="0" lang="ca-ES" sz="1200" strike="noStrike" u="none">
                <a:solidFill>
                  <a:srgbClr val="777777"/>
                </a:solidFill>
                <a:effectLst/>
                <a:uFillTx/>
                <a:latin typeface="Quattrocento Sans"/>
                <a:ea typeface="Quattrocento Sans"/>
              </a:rPr>
              <a:t>42</a:t>
            </a:r>
            <a:endParaRPr b="0" lang="ca-E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2026-10-14T08:09:59Z</dcterms:created>
  <dc:creator>Walnut Exporter</dc:creator>
  <dc:description/>
  <dc:language>ca-ES</dc:language>
  <cp:lastModifiedBy/>
  <dcterms:modified xsi:type="dcterms:W3CDTF">2026-10-14T10:59:59Z</dcterms:modified>
  <cp:revision>14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Converted Presentation</vt:lpwstr>
  </property>
</Properties>
</file>